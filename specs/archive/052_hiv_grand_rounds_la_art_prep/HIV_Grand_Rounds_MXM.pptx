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Stephen. I'm going to walk through our experience with long-acting ART and PrEP at MXM -- the numbers, and then four patients who teach us something about how this works in practice. I have some polls for you, so get your phones ready.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who we're working with. Thirty-four people since November 2021. The demographics probably look familiar to anyone who works in the Tenderloin or SoMa. What I want you to notice is the clinical complexity column -- eighty-five percent meth use disorder, a third with serious psychotic illness, and most of them had not been virally suppressed in our system for at least three years. These are not patients who failed because they didn't try. These are patients the system wasn't designed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hundred forty-seven injection visits. Eighty percent happen at clinic, but seventeen percent happen out in the community -- shelters, syringe access programs, mobile outreach. Three percent in jails or hospitals. Ninety-three percent on time. And then the number that matters most: one hundred percent virally suppressed. Every single person. That includes patients who were not suppressed for years before starting. We have one person currently lost to follow-up -- you'll hear about him in a minute as Patient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from our manuscript in preparation. In 2023 and 2024, we had 24 people on LA-ART and 123 on oral ART at MXM. One hundred percent of LA-ART patients were ever suppressed, versus seventy-two percent oral. At last follow-up, one hundred versus fifty-six. Now -- I need to be really clear about the caveat. These groups are not randomized. We selected patients for LA-ART who we could reliably find and who were interested. So the gap reflects both the intervention and the selection. But even with that caveat -- fifty-six percent versus one hundred percent is striking. And look at the encounter rate -- twenty-three visits per person-year. This is an intensive intervention. It is not set-it-and-forget-it.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Switching to PrEP. Sixty-eight people prescribed, fifty-two initiated. Similar population -- mostly unhoused, majority stimulant use disorder. Ninety percent retention at three months, sixty percent at six. Two seroconversions -- and this is important -- both happened during prolonged lapses in coverage, not during delayed dosing. So imperfect timing is not the same as failure. I also want to flag that we lost DPH-provided gift card incentives for about six to seven months starting last September, and that likely affected some of the retention data. The key message: continuity of coverage matters more than protocol perfection. For this population, we need to prioritize getting LA-PrEP into bodies -- rapid initiation, outreach-based delivery, flexible lab protocols.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get into cases. Patient 1 -- this is someone we published on last year, as Patient B in our Open Forum ID case series. He teaches us something about why lenacapavir might matter for population-level harm reduction.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Forty-nine-year-old man, lives in an SRO in the Tenderloin. HIV since 2010. Schizophrenia, bipolar, psychosis -- he is not interested in antipsychotics or psychiatry, and that is his right. Meth use disorder. No cell phone, but he agreed to let our outreach RN come to his SRO. He had not been able to stay on oral ART for five years -- tried four different regimens. When he came to MXM, his viral load was only 340 -- he'd been intermittently taking something -- and his CD4 was 334. But the key here is the genotype: Y181C plus M184V. That means high-level rilpivirine resistance. No INSTI mutations. So cabotegravir is still active, but rilpivirine is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minute. Get your phones out. Would you start this patient on long-acting ART, and if so, what regimen? [Pause for poll responses]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D. Drop the rilpivirine -- it's not doing anything with Y181C resistance. Start CAB monthly plus lenacapavir every six months. The lenacapavir acts as a capsid inhibitor backbone. If he lapses on CAB and CAB levels drop, lenacapavir is still there protecting the INSTI class. And for fourteen months, it worked beautifully. Sixteen injections, all on time, undetectable throughout. Then he disappeared. Three months later he shows up -- says he biked more than three hundred miles to another city and just got back. He's ten weeks late for CAB and four weeks late for LEN. He wants to restart.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poll number two. He's standing in front of you right now. You've drawn labs -- VL and genotype. What do you do TODAY? This one doesn't have a clean answer. [Pause for poll responses]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did: we gave him LEN and CAB that day. The window of engagement IS the moment of opportunity. If we send him away for labs, he might bike three hundred miles again tomorrow. Labs came back -- undetectable. Despite being ten weeks late for CAB. Two teaching points. First: in low-barrier settings, you act when the patient is in front of you. Waiting for perfect data means waiting forever. Second: lenacapavir likely protected him. LEN has a longer PK tail than CAB. When CAB went subtherapeutic, LEN was still working -- different mechanism, capsid inhibitor. Without LEN, we would almost certainly have seen INSTI resistance during that ten-week gap. He restarted, did another sixteen months perfectly. We published this case last year.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then he disappeared again. Eleven weeks out from his last CAB dose. We think he's more than three thousand miles away based on a Care Everywhere note from an ED visit. He's the only patient in our cohort who's currently lost to follow-up. But here's the silver lining -- if resistance develops during this lapse, it will likely be to lenacapavir, not to the INSTI class. When he re-engages somewhere, CAB-based options may still be available. And this raises a bigger question. We have seen at least two other patients started on CAB/RPV alone at other counties who became LTFU and came to MXM with new INSTI resistance. That is devastating. Should we be adding lenacapavir as default for anyone at high LTFU risk -- as a harm reduction strategy to protect the INSTI class at a population level?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2. Some of you may remember this case from Grand Rounds last November. This is an update -- here's where things stand now.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2 -- street homeless, meth use disorder, PTSD, psychosis. Started CAB/RPV at another clinic before MXM. Baseline VL almost 178,000, K103N on genotype. Initially he suppresses, but then at dose six his viral load comes back at 37,000. We don't have the genotype yet, but we're pretty sure he's developed resistance to one class -- either CAB or RPV. So we add lenacapavir that same day, thinking we still have two active agents. Then the genotype comes back and it's devastating -- high-level resistance to both CAB and RPV. We stop them, prescribe oral ART. He tells us he cannot take pills. He never picks them up. He's on LEN monotherapy. He comes back ten months later for an abscess and his viral load is undetectable. We restart everything. As of today, he's been suppressed for about a hundred and ninety-five weeks total.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really clear about this case. This is one patient. He might be an outlier. I am not endorsing lenacapavir monotherapy. But the possible mechanism is interesting -- LEN resistance mutations confer very low viral fitness. The virus might develop resistance but essentially can't replicate well enough to matter. I genuinely don't understand why this is working as well as it is. If anyone wants to talk pharmacology after, I would welcome that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3. This one is about a situation I think a lot of us are going to face more and more as long-acting ART expands beyond specialty clinics.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 3. Street homeless, recently came to SF from about four hours away. He was started on Cabenuva q-eight-weeks at his home county clinic and was on time for every injection until he moved. He got admitted to General for a skin infection, the hospital tried to give his Cabenuva but couldn't confirm the date of his last injection, and he left AMA. Two weeks later he shows up at MXM -- not for HIV care, just for wound eval. He's not our patient. His last injection was ten weeks ago, so he's two weeks overdue. His last labs from the hospital a month ago were undetectable. But he declines labs today. Declines oral ART. Declines going back to his home county. He says: just give me my injection.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 you do? He will not accept labs. He will not accept oral ART. He will not go back to his home county. What he will accept is an injection, right now. [Pause for poll responses]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actually did on visit one was C -- we sent him away with resources to get a phone and a deal: come back, get labs and an injection the same day. He came back a week later, now twenty-two days overdue. We used one of our two emergency Cabenuva doses -- these are from the 403B Emergency ART program, not standard supply. We drew labs simultaneously and told him he needs to establish care formally. Was this the right call? I honestly don't know. We didn't want to set a precedent that non-patients can show up for same-day Cabenuva. But he was at real risk of INSTI resistance if we did nothing. Ask me next year.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case. This one is genuinely an open question. I'm asking for your help.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Fifty-two-year-old man. Street homeless, no family. CD4 less than thirty-five, viral load two hundred fifty-five thousand. He has not been on ART for at least five years. When we prescribe pills, he throws them away -- his words, not mine. But recently he's been saying he's interested in long-acting injections. His history is extraordinary. PCP pneumonia, strep bacteremia with empyema and septic shock requiring bilateral chest tubes, and then -- the critical piece -- pericardial effusion that went to tamponade and PEA arrest. He survived. The pericardial fluid was culture negative but looked infectious. CT surgery felt it was too risky to do a pericardial window given his AIDS and likely adherence issues. His recent CT shows no current effusion, which is reassuring. But the question you're being asked: should we start LA-ART?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poll. You're being consulted. What do you do? [Pause for responses] I'll tell you where I'm leaning -- option E. If we can get him on paliperidone palmitate, a long-acting antipsychotic, his engagement and decision-making might improve enough to make ART initiation safer and more sustainable. But I acknowledge the danger of waiting at a CD4 under thirty-five. Pericardial IRIS is a recognized phenomenon, especially with TB, though his CrAg is negative which removes the most dangerous trigger. And in the ART era, pericardial effusion rates dropped from eleven percent to a quarter of a percent -- ART is generally protective for pericardial disease. I genuinely don't know the right answer here. I'd welcome your thoughts.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takeaways. One: this works. One hundred percent suppression. But it is intensive -- twenty-three encounters per person-year, outreach nurses going to SROs and shelters. Two: lenacapavir may be doing something important at the population level, protecting the INSTI class when patients lapse. Three: act when the patient is in front of you. Four: we're encountering genuinely new clinical questions -- like IRIS risk in patients with AIDS and incompletely treated pericarditis -- that the field hasn't addressed yet. And five: humility. These cases don't have clean endings, and that's the point. 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95A8"/>
        </a:solidFill>
        <a:effectLst/>
      </p:bgPr>
    </p:bg>
    <p:spTree>
      <p:nvGrpSpPr>
        <p:cNvPr id="1" name=""/>
        <p:cNvGrpSpPr/>
        <p:nvPr/>
      </p:nvGrpSpPr>
      <p:grpSpPr/>
      <p:sp>
        <p:nvSpPr>
          <p:cNvPr id="2" name="TextBox 1"/>
          <p:cNvSpPr txBox="1"/>
          <p:nvPr/>
        </p:nvSpPr>
        <p:spPr>
          <a:xfrm>
            <a:off x="914400" y="1645920"/>
            <a:ext cx="10332720" cy="1371600"/>
          </a:xfrm>
          <a:prstGeom prst="rect">
            <a:avLst/>
          </a:prstGeom>
          <a:noFill/>
        </p:spPr>
        <p:txBody>
          <a:bodyPr wrap="square">
            <a:spAutoFit/>
          </a:bodyPr>
          <a:lstStyle/>
          <a:p>
            <a:pPr algn="ctr">
              <a:defRPr sz="4400" b="1" i="0">
                <a:solidFill>
                  <a:srgbClr val="FFFFFF"/>
                </a:solidFill>
                <a:latin typeface="Garamond"/>
              </a:defRPr>
            </a:pPr>
            <a:r>
              <a:t>Long-Acting ART &amp; PrEP at MXM</a:t>
            </a:r>
          </a:p>
        </p:txBody>
      </p:sp>
      <p:sp>
        <p:nvSpPr>
          <p:cNvPr id="3" name="TextBox 2"/>
          <p:cNvSpPr txBox="1"/>
          <p:nvPr/>
        </p:nvSpPr>
        <p:spPr>
          <a:xfrm>
            <a:off x="914400" y="3200400"/>
            <a:ext cx="10332720" cy="548640"/>
          </a:xfrm>
          <a:prstGeom prst="rect">
            <a:avLst/>
          </a:prstGeom>
          <a:noFill/>
        </p:spPr>
        <p:txBody>
          <a:bodyPr wrap="square">
            <a:spAutoFit/>
          </a:bodyPr>
          <a:lstStyle/>
          <a:p>
            <a:pPr algn="ctr">
              <a:defRPr sz="2400" b="0" i="0">
                <a:solidFill>
                  <a:srgbClr val="FFFFFF"/>
                </a:solidFill>
                <a:latin typeface="Arial"/>
              </a:defRPr>
            </a:pPr>
            <a:r>
              <a:t>Nicky Mehtani, MD MPH</a:t>
            </a:r>
          </a:p>
        </p:txBody>
      </p:sp>
      <p:sp>
        <p:nvSpPr>
          <p:cNvPr id="4" name="TextBox 3"/>
          <p:cNvSpPr txBox="1"/>
          <p:nvPr/>
        </p:nvSpPr>
        <p:spPr>
          <a:xfrm>
            <a:off x="914400" y="3931920"/>
            <a:ext cx="10332720" cy="548640"/>
          </a:xfrm>
          <a:prstGeom prst="rect">
            <a:avLst/>
          </a:prstGeom>
          <a:noFill/>
        </p:spPr>
        <p:txBody>
          <a:bodyPr wrap="square">
            <a:spAutoFit/>
          </a:bodyPr>
          <a:lstStyle/>
          <a:p>
            <a:pPr algn="ctr">
              <a:defRPr sz="2000" b="0" i="0">
                <a:solidFill>
                  <a:srgbClr val="FFFFFF"/>
                </a:solidFill>
                <a:latin typeface="Arial"/>
              </a:defRPr>
            </a:pPr>
            <a:r>
              <a:t>HIV Grand Rounds  |  UCSF/ZSFG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LA-ART: Who We Serve</a:t>
            </a:r>
          </a:p>
        </p:txBody>
      </p:sp>
      <p:sp>
        <p:nvSpPr>
          <p:cNvPr id="3" name="TextBox 2"/>
          <p:cNvSpPr txBox="1"/>
          <p:nvPr/>
        </p:nvSpPr>
        <p:spPr>
          <a:xfrm>
            <a:off x="640080" y="1280160"/>
            <a:ext cx="5029200" cy="548640"/>
          </a:xfrm>
          <a:prstGeom prst="rect">
            <a:avLst/>
          </a:prstGeom>
          <a:noFill/>
        </p:spPr>
        <p:txBody>
          <a:bodyPr wrap="square">
            <a:spAutoFit/>
          </a:bodyPr>
          <a:lstStyle/>
          <a:p>
            <a:pPr algn="l">
              <a:defRPr sz="2200" b="1" i="0">
                <a:solidFill>
                  <a:srgbClr val="0095A8"/>
                </a:solidFill>
                <a:latin typeface="Arial"/>
              </a:defRPr>
            </a:pPr>
            <a:r>
              <a:t>Demographics (n=34, Nov 2021 -- Apr 2026)</a:t>
            </a:r>
          </a:p>
        </p:txBody>
      </p:sp>
      <p:sp>
        <p:nvSpPr>
          <p:cNvPr id="4" name="TextBox 3"/>
          <p:cNvSpPr txBox="1"/>
          <p:nvPr/>
        </p:nvSpPr>
        <p:spPr>
          <a:xfrm>
            <a:off x="640080" y="1828800"/>
            <a:ext cx="5029200" cy="4572000"/>
          </a:xfrm>
          <a:prstGeom prst="rect">
            <a:avLst/>
          </a:prstGeom>
          <a:noFill/>
        </p:spPr>
        <p:txBody>
          <a:bodyPr wrap="square">
            <a:spAutoFit/>
          </a:bodyPr>
          <a:lstStyle/>
          <a:p>
            <a:pPr>
              <a:spcAft>
                <a:spcPts val="600"/>
              </a:spcAft>
              <a:defRPr sz="1800" b="0">
                <a:solidFill>
                  <a:srgbClr val="FFFFFF"/>
                </a:solidFill>
                <a:latin typeface="Arial"/>
              </a:defRPr>
            </a:pPr>
            <a:r>
              <a:t>Median age: 40</a:t>
            </a:r>
          </a:p>
          <a:p>
            <a:pPr>
              <a:spcAft>
                <a:spcPts val="600"/>
              </a:spcAft>
              <a:defRPr sz="1800" b="0">
                <a:solidFill>
                  <a:srgbClr val="FFFFFF"/>
                </a:solidFill>
                <a:latin typeface="Arial"/>
              </a:defRPr>
            </a:pPr>
            <a:r>
              <a:t>22 cis-men, 8 trans women/non-binary, 4 cis-women</a:t>
            </a:r>
          </a:p>
          <a:p>
            <a:pPr>
              <a:spcAft>
                <a:spcPts val="600"/>
              </a:spcAft>
              <a:defRPr sz="1800" b="0">
                <a:solidFill>
                  <a:srgbClr val="FFFFFF"/>
                </a:solidFill>
                <a:latin typeface="Arial"/>
              </a:defRPr>
            </a:pPr>
            <a:r>
              <a:t>50% Black, 26% Hispanic, 24% non-Hispanic White</a:t>
            </a:r>
          </a:p>
          <a:p>
            <a:pPr>
              <a:spcAft>
                <a:spcPts val="600"/>
              </a:spcAft>
              <a:defRPr sz="1800" b="0">
                <a:solidFill>
                  <a:srgbClr val="FFFFFF"/>
                </a:solidFill>
                <a:latin typeface="Arial"/>
              </a:defRPr>
            </a:pPr>
            <a:r>
              <a:t>10 street homeless, 16 sheltered/couch-surfing, 8 unstably housed</a:t>
            </a:r>
          </a:p>
        </p:txBody>
      </p:sp>
      <p:sp>
        <p:nvSpPr>
          <p:cNvPr id="5" name="TextBox 4"/>
          <p:cNvSpPr txBox="1"/>
          <p:nvPr/>
        </p:nvSpPr>
        <p:spPr>
          <a:xfrm>
            <a:off x="6217920" y="1280160"/>
            <a:ext cx="5303520" cy="548640"/>
          </a:xfrm>
          <a:prstGeom prst="rect">
            <a:avLst/>
          </a:prstGeom>
          <a:noFill/>
        </p:spPr>
        <p:txBody>
          <a:bodyPr wrap="square">
            <a:spAutoFit/>
          </a:bodyPr>
          <a:lstStyle/>
          <a:p>
            <a:pPr algn="l">
              <a:defRPr sz="2200" b="1" i="0">
                <a:solidFill>
                  <a:srgbClr val="0095A8"/>
                </a:solidFill>
                <a:latin typeface="Arial"/>
              </a:defRPr>
            </a:pPr>
            <a:r>
              <a:t>Clinical Complexity</a:t>
            </a:r>
          </a:p>
        </p:txBody>
      </p:sp>
      <p:sp>
        <p:nvSpPr>
          <p:cNvPr id="6" name="TextBox 5"/>
          <p:cNvSpPr txBox="1"/>
          <p:nvPr/>
        </p:nvSpPr>
        <p:spPr>
          <a:xfrm>
            <a:off x="6217920" y="1828800"/>
            <a:ext cx="5303520" cy="4572000"/>
          </a:xfrm>
          <a:prstGeom prst="rect">
            <a:avLst/>
          </a:prstGeom>
          <a:noFill/>
        </p:spPr>
        <p:txBody>
          <a:bodyPr wrap="square">
            <a:spAutoFit/>
          </a:bodyPr>
          <a:lstStyle/>
          <a:p>
            <a:pPr>
              <a:spcAft>
                <a:spcPts val="600"/>
              </a:spcAft>
              <a:defRPr sz="1800" b="0">
                <a:solidFill>
                  <a:srgbClr val="FFFFFF"/>
                </a:solidFill>
                <a:latin typeface="Arial"/>
              </a:defRPr>
            </a:pPr>
            <a:r>
              <a:t>24% opioid use disorder</a:t>
            </a:r>
          </a:p>
          <a:p>
            <a:pPr>
              <a:spcAft>
                <a:spcPts val="600"/>
              </a:spcAft>
              <a:defRPr sz="1800" b="0">
                <a:solidFill>
                  <a:srgbClr val="FFFFFF"/>
                </a:solidFill>
                <a:latin typeface="Arial"/>
              </a:defRPr>
            </a:pPr>
            <a:r>
              <a:t>11 initiated with CD4 &lt;200 (7 with CD4 &lt;50)</a:t>
            </a:r>
          </a:p>
          <a:p>
            <a:pPr>
              <a:spcAft>
                <a:spcPts val="600"/>
              </a:spcAft>
              <a:defRPr sz="1800" b="0">
                <a:solidFill>
                  <a:srgbClr val="FFFFFF"/>
                </a:solidFill>
                <a:latin typeface="Arial"/>
              </a:defRPr>
            </a:pPr>
            <a:r>
              <a:t>71% started with detectable viremia</a:t>
            </a:r>
          </a:p>
          <a:p>
            <a:pPr>
              <a:spcAft>
                <a:spcPts val="600"/>
              </a:spcAft>
              <a:defRPr sz="1800" b="0">
                <a:solidFill>
                  <a:srgbClr val="FFFFFF"/>
                </a:solidFill>
                <a:latin typeface="Arial"/>
              </a:defRPr>
            </a:pPr>
            <a:r>
              <a:t>17/24 had NOT been suppressed in our system for 3+ years</a:t>
            </a:r>
          </a:p>
        </p:txBody>
      </p:sp>
      <p:sp>
        <p:nvSpPr>
          <p:cNvPr id="7" name="TextBox 6"/>
          <p:cNvSpPr txBox="1"/>
          <p:nvPr/>
        </p:nvSpPr>
        <p:spPr>
          <a:xfrm>
            <a:off x="6400800" y="4206240"/>
            <a:ext cx="2560320" cy="1280160"/>
          </a:xfrm>
          <a:prstGeom prst="rect">
            <a:avLst/>
          </a:prstGeom>
          <a:noFill/>
        </p:spPr>
        <p:txBody>
          <a:bodyPr wrap="square">
            <a:spAutoFit/>
          </a:bodyPr>
          <a:lstStyle/>
          <a:p>
            <a:pPr algn="ctr">
              <a:defRPr sz="4800" b="1">
                <a:solidFill>
                  <a:srgbClr val="0095A8"/>
                </a:solidFill>
                <a:latin typeface="Garamond"/>
              </a:defRPr>
            </a:pPr>
            <a:r>
              <a:t>85%</a:t>
            </a:r>
          </a:p>
          <a:p>
            <a:pPr algn="ctr">
              <a:defRPr sz="1800" b="0">
                <a:solidFill>
                  <a:srgbClr val="FFFFFF"/>
                </a:solidFill>
                <a:latin typeface="Arial"/>
              </a:defRPr>
            </a:pPr>
            <a:r>
              <a:t>methamphetamine use disorder</a:t>
            </a:r>
          </a:p>
        </p:txBody>
      </p:sp>
      <p:sp>
        <p:nvSpPr>
          <p:cNvPr id="8" name="TextBox 7"/>
          <p:cNvSpPr txBox="1"/>
          <p:nvPr/>
        </p:nvSpPr>
        <p:spPr>
          <a:xfrm>
            <a:off x="9144000" y="4206240"/>
            <a:ext cx="2560320" cy="1280160"/>
          </a:xfrm>
          <a:prstGeom prst="rect">
            <a:avLst/>
          </a:prstGeom>
          <a:noFill/>
        </p:spPr>
        <p:txBody>
          <a:bodyPr wrap="square">
            <a:spAutoFit/>
          </a:bodyPr>
          <a:lstStyle/>
          <a:p>
            <a:pPr algn="ctr">
              <a:defRPr sz="4800" b="1">
                <a:solidFill>
                  <a:srgbClr val="0095A8"/>
                </a:solidFill>
                <a:latin typeface="Garamond"/>
              </a:defRPr>
            </a:pPr>
            <a:r>
              <a:t>32%</a:t>
            </a:r>
          </a:p>
          <a:p>
            <a:pPr algn="ctr">
              <a:defRPr sz="1800" b="0">
                <a:solidFill>
                  <a:srgbClr val="FFFFFF"/>
                </a:solidFill>
                <a:latin typeface="Arial"/>
              </a:defRPr>
            </a:pPr>
            <a:r>
              <a:t>schizophrenia or bipolar</a:t>
            </a:r>
            <a:br/>
            <a:r>
              <a:t>w/ psychosis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LA-ART: Delivery &amp; Outcomes</a:t>
            </a:r>
          </a:p>
        </p:txBody>
      </p:sp>
      <p:sp>
        <p:nvSpPr>
          <p:cNvPr id="3" name="TextBox 2"/>
          <p:cNvSpPr txBox="1"/>
          <p:nvPr/>
        </p:nvSpPr>
        <p:spPr>
          <a:xfrm>
            <a:off x="3200400" y="1371600"/>
            <a:ext cx="5760720" cy="2011680"/>
          </a:xfrm>
          <a:prstGeom prst="rect">
            <a:avLst/>
          </a:prstGeom>
          <a:noFill/>
        </p:spPr>
        <p:txBody>
          <a:bodyPr wrap="square">
            <a:spAutoFit/>
          </a:bodyPr>
          <a:lstStyle/>
          <a:p>
            <a:pPr algn="ctr">
              <a:defRPr sz="7200" b="1">
                <a:solidFill>
                  <a:srgbClr val="0095A8"/>
                </a:solidFill>
                <a:latin typeface="Garamond"/>
              </a:defRPr>
            </a:pPr>
            <a:r>
              <a:t>100%</a:t>
            </a:r>
          </a:p>
          <a:p>
            <a:pPr algn="ctr">
              <a:defRPr sz="1800" b="0">
                <a:solidFill>
                  <a:srgbClr val="FFFFFF"/>
                </a:solidFill>
                <a:latin typeface="Arial"/>
              </a:defRPr>
            </a:pPr>
            <a:r>
              <a:t>virally suppressed at latest follow-up</a:t>
            </a:r>
          </a:p>
        </p:txBody>
      </p:sp>
      <p:sp>
        <p:nvSpPr>
          <p:cNvPr id="4" name="TextBox 3"/>
          <p:cNvSpPr txBox="1"/>
          <p:nvPr/>
        </p:nvSpPr>
        <p:spPr>
          <a:xfrm>
            <a:off x="731520" y="3657600"/>
            <a:ext cx="3200400" cy="1188720"/>
          </a:xfrm>
          <a:prstGeom prst="rect">
            <a:avLst/>
          </a:prstGeom>
          <a:noFill/>
        </p:spPr>
        <p:txBody>
          <a:bodyPr wrap="square">
            <a:spAutoFit/>
          </a:bodyPr>
          <a:lstStyle/>
          <a:p>
            <a:pPr algn="ctr">
              <a:defRPr sz="4400" b="1">
                <a:solidFill>
                  <a:srgbClr val="0095A8"/>
                </a:solidFill>
                <a:latin typeface="Garamond"/>
              </a:defRPr>
            </a:pPr>
            <a:r>
              <a:t>93%</a:t>
            </a:r>
          </a:p>
          <a:p>
            <a:pPr algn="ctr">
              <a:defRPr sz="1800" b="0">
                <a:solidFill>
                  <a:srgbClr val="FFFFFF"/>
                </a:solidFill>
                <a:latin typeface="Arial"/>
              </a:defRPr>
            </a:pPr>
            <a:r>
              <a:t>on time (within 7-day window)</a:t>
            </a:r>
          </a:p>
        </p:txBody>
      </p:sp>
      <p:sp>
        <p:nvSpPr>
          <p:cNvPr id="5" name="TextBox 4"/>
          <p:cNvSpPr txBox="1"/>
          <p:nvPr/>
        </p:nvSpPr>
        <p:spPr>
          <a:xfrm>
            <a:off x="4572000" y="3840480"/>
            <a:ext cx="7132320" cy="2743200"/>
          </a:xfrm>
          <a:prstGeom prst="rect">
            <a:avLst/>
          </a:prstGeom>
          <a:noFill/>
        </p:spPr>
        <p:txBody>
          <a:bodyPr wrap="square">
            <a:spAutoFit/>
          </a:bodyPr>
          <a:lstStyle/>
          <a:p>
            <a:pPr>
              <a:spcAft>
                <a:spcPts val="600"/>
              </a:spcAft>
              <a:defRPr sz="1600" b="0">
                <a:solidFill>
                  <a:srgbClr val="FFFFFF"/>
                </a:solidFill>
                <a:latin typeface="Arial"/>
              </a:defRPr>
            </a:pPr>
            <a:r>
              <a:t>747 total injection visits</a:t>
            </a:r>
          </a:p>
          <a:p>
            <a:pPr>
              <a:spcAft>
                <a:spcPts val="600"/>
              </a:spcAft>
              <a:defRPr sz="1600" b="0">
                <a:solidFill>
                  <a:srgbClr val="FFFFFF"/>
                </a:solidFill>
                <a:latin typeface="Arial"/>
              </a:defRPr>
            </a:pPr>
            <a:r>
              <a:t>80% at MXM clinic | 17% mobile outreach | 3% jails/hospitals</a:t>
            </a:r>
          </a:p>
          <a:p>
            <a:pPr>
              <a:spcAft>
                <a:spcPts val="600"/>
              </a:spcAft>
              <a:defRPr sz="1600" b="0">
                <a:solidFill>
                  <a:srgbClr val="FFFFFF"/>
                </a:solidFill>
                <a:latin typeface="Arial"/>
              </a:defRPr>
            </a:pPr>
            <a:r>
              <a:t>Median time on LA-ART: 116 weeks (IQR 60-145)</a:t>
            </a:r>
          </a:p>
          <a:p>
            <a:pPr>
              <a:spcAft>
                <a:spcPts val="600"/>
              </a:spcAft>
              <a:defRPr sz="1600" b="0">
                <a:solidFill>
                  <a:srgbClr val="FFFFFF"/>
                </a:solidFill>
                <a:latin typeface="Arial"/>
              </a:defRPr>
            </a:pPr>
            <a:r>
              <a:t>9 successfully transferred to new primary care homes</a:t>
            </a:r>
          </a:p>
          <a:p>
            <a:pPr>
              <a:spcAft>
                <a:spcPts val="600"/>
              </a:spcAft>
              <a:defRPr sz="1600" b="0">
                <a:solidFill>
                  <a:srgbClr val="FFFFFF"/>
                </a:solidFill>
                <a:latin typeface="Arial"/>
              </a:defRPr>
            </a:pPr>
            <a:r>
              <a:t>Current: 12 CAB/RPV q1-mo | 11 q2-mo | 9 CAB+/-RPV+LEN | 2 CAB/RPV+LEN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1B2A4A"/>
                </a:solidFill>
                <a:latin typeface="Garamond"/>
              </a:defRPr>
            </a:pPr>
            <a:r>
              <a:t>Oral vs. LA-ART Outcomes (2023-2024)</a:t>
            </a:r>
          </a:p>
        </p:txBody>
      </p:sp>
      <p:sp>
        <p:nvSpPr>
          <p:cNvPr id="3" name="TextBox 2"/>
          <p:cNvSpPr txBox="1"/>
          <p:nvPr/>
        </p:nvSpPr>
        <p:spPr>
          <a:xfrm>
            <a:off x="731520" y="1097280"/>
            <a:ext cx="7315200" cy="365760"/>
          </a:xfrm>
          <a:prstGeom prst="rect">
            <a:avLst/>
          </a:prstGeom>
          <a:noFill/>
        </p:spPr>
        <p:txBody>
          <a:bodyPr wrap="square">
            <a:spAutoFit/>
          </a:bodyPr>
          <a:lstStyle/>
          <a:p>
            <a:pPr algn="l">
              <a:defRPr sz="1400" b="0" i="1">
                <a:solidFill>
                  <a:srgbClr val="333333"/>
                </a:solidFill>
                <a:latin typeface="Arial"/>
              </a:defRPr>
            </a:pPr>
            <a:r>
              <a:t>Mehtani et al., manuscript in preparation</a:t>
            </a:r>
          </a:p>
        </p:txBody>
      </p:sp>
      <p:graphicFrame>
        <p:nvGraphicFramePr>
          <p:cNvPr id="4" name="Table 3"/>
          <p:cNvGraphicFramePr>
            <a:graphicFrameLocks noGrp="1"/>
          </p:cNvGraphicFramePr>
          <p:nvPr/>
        </p:nvGraphicFramePr>
        <p:xfrm>
          <a:off x="1371600" y="1828800"/>
          <a:ext cx="9144000" cy="2560320"/>
        </p:xfrm>
        <a:graphic>
          <a:graphicData uri="http://schemas.openxmlformats.org/drawingml/2006/table">
            <a:tbl>
              <a:tblPr firstRow="1" bandRow="1">
                <a:tableStyleId>{5C22544A-7EE6-4342-B048-85BDC9FD1C3A}</a:tableStyleId>
              </a:tblPr>
              <a:tblGrid>
                <a:gridCol w="3048000"/>
                <a:gridCol w="3048000"/>
                <a:gridCol w="3048000"/>
              </a:tblGrid>
              <a:tr h="640080">
                <a:tc>
                  <a:txBody>
                    <a:bodyPr/>
                    <a:lstStyle/>
                    <a:p>
                      <a:pPr>
                        <a:defRPr sz="1800" b="1">
                          <a:solidFill>
                            <a:srgbClr val="FFFFFF"/>
                          </a:solidFill>
                          <a:latin typeface="Arial"/>
                        </a:defRPr>
                      </a:pPr>
                      <a:r>
                        <a:t>Outcome</a:t>
                      </a:r>
                    </a:p>
                  </a:txBody>
                  <a:tcPr>
                    <a:solidFill>
                      <a:srgbClr val="1B2A4A"/>
                    </a:solidFill>
                  </a:tcPr>
                </a:tc>
                <a:tc>
                  <a:txBody>
                    <a:bodyPr/>
                    <a:lstStyle/>
                    <a:p>
                      <a:pPr>
                        <a:defRPr sz="1800" b="1">
                          <a:solidFill>
                            <a:srgbClr val="FFFFFF"/>
                          </a:solidFill>
                          <a:latin typeface="Arial"/>
                        </a:defRPr>
                      </a:pPr>
                      <a:r>
                        <a:t>Oral ART (n=123)</a:t>
                      </a:r>
                    </a:p>
                  </a:txBody>
                  <a:tcPr>
                    <a:solidFill>
                      <a:srgbClr val="1B2A4A"/>
                    </a:solidFill>
                  </a:tcPr>
                </a:tc>
                <a:tc>
                  <a:txBody>
                    <a:bodyPr/>
                    <a:lstStyle/>
                    <a:p>
                      <a:pPr>
                        <a:defRPr sz="1800" b="1">
                          <a:solidFill>
                            <a:srgbClr val="FFFFFF"/>
                          </a:solidFill>
                          <a:latin typeface="Arial"/>
                        </a:defRPr>
                      </a:pPr>
                      <a:r>
                        <a:t>LA-ART (n=24)</a:t>
                      </a:r>
                    </a:p>
                  </a:txBody>
                  <a:tcPr>
                    <a:solidFill>
                      <a:srgbClr val="1B2A4A"/>
                    </a:solidFill>
                  </a:tcPr>
                </a:tc>
              </a:tr>
              <a:tr h="640080">
                <a:tc>
                  <a:txBody>
                    <a:bodyPr/>
                    <a:lstStyle/>
                    <a:p>
                      <a:pPr algn="l">
                        <a:defRPr sz="2000">
                          <a:solidFill>
                            <a:srgbClr val="1B2A4A"/>
                          </a:solidFill>
                          <a:latin typeface="Arial"/>
                        </a:defRPr>
                      </a:pPr>
                      <a:r>
                        <a:t>Ever virally suppressed</a:t>
                      </a:r>
                    </a:p>
                  </a:txBody>
                  <a:tcPr/>
                </a:tc>
                <a:tc>
                  <a:txBody>
                    <a:bodyPr/>
                    <a:lstStyle/>
                    <a:p>
                      <a:pPr algn="ctr">
                        <a:defRPr sz="2000">
                          <a:solidFill>
                            <a:srgbClr val="1B2A4A"/>
                          </a:solidFill>
                          <a:latin typeface="Arial"/>
                        </a:defRPr>
                      </a:pPr>
                      <a:r>
                        <a:t>72%</a:t>
                      </a:r>
                    </a:p>
                  </a:txBody>
                  <a:tcPr/>
                </a:tc>
                <a:tc>
                  <a:txBody>
                    <a:bodyPr/>
                    <a:lstStyle/>
                    <a:p>
                      <a:pPr algn="ctr">
                        <a:defRPr sz="2400" b="1">
                          <a:solidFill>
                            <a:srgbClr val="0095A8"/>
                          </a:solidFill>
                          <a:latin typeface="Arial"/>
                        </a:defRPr>
                      </a:pPr>
                      <a:r>
                        <a:t>100%</a:t>
                      </a:r>
                    </a:p>
                  </a:txBody>
                  <a:tcPr/>
                </a:tc>
              </a:tr>
              <a:tr h="640080">
                <a:tc>
                  <a:txBody>
                    <a:bodyPr/>
                    <a:lstStyle/>
                    <a:p>
                      <a:pPr algn="l">
                        <a:defRPr sz="2000">
                          <a:solidFill>
                            <a:srgbClr val="1B2A4A"/>
                          </a:solidFill>
                          <a:latin typeface="Arial"/>
                        </a:defRPr>
                      </a:pPr>
                      <a:r>
                        <a:t>Suppressed at last follow-up</a:t>
                      </a:r>
                    </a:p>
                  </a:txBody>
                  <a:tcPr/>
                </a:tc>
                <a:tc>
                  <a:txBody>
                    <a:bodyPr/>
                    <a:lstStyle/>
                    <a:p>
                      <a:pPr algn="ctr">
                        <a:defRPr sz="2000">
                          <a:solidFill>
                            <a:srgbClr val="1B2A4A"/>
                          </a:solidFill>
                          <a:latin typeface="Arial"/>
                        </a:defRPr>
                      </a:pPr>
                      <a:r>
                        <a:t>56%</a:t>
                      </a:r>
                    </a:p>
                  </a:txBody>
                  <a:tcPr/>
                </a:tc>
                <a:tc>
                  <a:txBody>
                    <a:bodyPr/>
                    <a:lstStyle/>
                    <a:p>
                      <a:pPr algn="ctr">
                        <a:defRPr sz="2400" b="1">
                          <a:solidFill>
                            <a:srgbClr val="0095A8"/>
                          </a:solidFill>
                          <a:latin typeface="Arial"/>
                        </a:defRPr>
                      </a:pPr>
                      <a:r>
                        <a:t>100%</a:t>
                      </a:r>
                    </a:p>
                  </a:txBody>
                  <a:tcPr/>
                </a:tc>
              </a:tr>
              <a:tr h="640080">
                <a:tc>
                  <a:txBody>
                    <a:bodyPr/>
                    <a:lstStyle/>
                    <a:p>
                      <a:pPr algn="l">
                        <a:defRPr sz="2000">
                          <a:solidFill>
                            <a:srgbClr val="1B2A4A"/>
                          </a:solidFill>
                          <a:latin typeface="Arial"/>
                        </a:defRPr>
                      </a:pPr>
                      <a:r>
                        <a:t>Mean encounters/person-year</a:t>
                      </a:r>
                    </a:p>
                  </a:txBody>
                  <a:tcPr/>
                </a:tc>
                <a:tc>
                  <a:txBody>
                    <a:bodyPr/>
                    <a:lstStyle/>
                    <a:p>
                      <a:pPr algn="ctr">
                        <a:defRPr sz="2000">
                          <a:solidFill>
                            <a:srgbClr val="1B2A4A"/>
                          </a:solidFill>
                          <a:latin typeface="Arial"/>
                        </a:defRPr>
                      </a:pPr>
                      <a:r>
                        <a:t>9.1</a:t>
                      </a:r>
                    </a:p>
                  </a:txBody>
                  <a:tcPr/>
                </a:tc>
                <a:tc>
                  <a:txBody>
                    <a:bodyPr/>
                    <a:lstStyle/>
                    <a:p>
                      <a:pPr algn="ctr">
                        <a:defRPr sz="2000">
                          <a:solidFill>
                            <a:srgbClr val="1B2A4A"/>
                          </a:solidFill>
                          <a:latin typeface="Arial"/>
                        </a:defRPr>
                      </a:pPr>
                      <a:r>
                        <a:t>23.0</a:t>
                      </a:r>
                    </a:p>
                  </a:txBody>
                  <a:tcPr/>
                </a:tc>
              </a:tr>
            </a:tbl>
          </a:graphicData>
        </a:graphic>
      </p:graphicFrame>
      <p:sp>
        <p:nvSpPr>
          <p:cNvPr id="5" name="Rounded Rectangle 4"/>
          <p:cNvSpPr/>
          <p:nvPr/>
        </p:nvSpPr>
        <p:spPr>
          <a:xfrm>
            <a:off x="1371600" y="4754880"/>
            <a:ext cx="9144000" cy="109728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0">
                <a:solidFill>
                  <a:srgbClr val="333333"/>
                </a:solidFill>
                <a:latin typeface="Arial"/>
              </a:defRPr>
            </a:pPr>
            <a:r>
              <a:t>CAVEAT: Groups not randomized. LA-ART patients selected for reliable locatability and injection interest. Gap reflects BOTH intervention AND selection.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1B2A4A"/>
                </a:solidFill>
                <a:latin typeface="Garamond"/>
              </a:defRPr>
            </a:pPr>
            <a:r>
              <a:t>LA-PrEP at MXM (Aug 2022 -- Dec 2025)</a:t>
            </a:r>
          </a:p>
        </p:txBody>
      </p:sp>
      <p:sp>
        <p:nvSpPr>
          <p:cNvPr id="3" name="TextBox 2"/>
          <p:cNvSpPr txBox="1"/>
          <p:nvPr/>
        </p:nvSpPr>
        <p:spPr>
          <a:xfrm>
            <a:off x="731520" y="1097280"/>
            <a:ext cx="7315200" cy="365760"/>
          </a:xfrm>
          <a:prstGeom prst="rect">
            <a:avLst/>
          </a:prstGeom>
          <a:noFill/>
        </p:spPr>
        <p:txBody>
          <a:bodyPr wrap="square">
            <a:spAutoFit/>
          </a:bodyPr>
          <a:lstStyle/>
          <a:p>
            <a:pPr algn="l">
              <a:defRPr sz="1400" b="0" i="1">
                <a:solidFill>
                  <a:srgbClr val="333333"/>
                </a:solidFill>
                <a:latin typeface="Arial"/>
              </a:defRPr>
            </a:pPr>
            <a:r>
              <a:t>Mehtani et al., abstract submitted 2026</a:t>
            </a:r>
          </a:p>
        </p:txBody>
      </p:sp>
      <p:sp>
        <p:nvSpPr>
          <p:cNvPr id="4" name="TextBox 3"/>
          <p:cNvSpPr txBox="1"/>
          <p:nvPr/>
        </p:nvSpPr>
        <p:spPr>
          <a:xfrm>
            <a:off x="731520" y="1645920"/>
            <a:ext cx="6400800" cy="4114800"/>
          </a:xfrm>
          <a:prstGeom prst="rect">
            <a:avLst/>
          </a:prstGeom>
          <a:noFill/>
        </p:spPr>
        <p:txBody>
          <a:bodyPr wrap="square">
            <a:spAutoFit/>
          </a:bodyPr>
          <a:lstStyle/>
          <a:p>
            <a:pPr>
              <a:spcAft>
                <a:spcPts val="600"/>
              </a:spcAft>
              <a:defRPr sz="1800" b="0">
                <a:solidFill>
                  <a:srgbClr val="1B2A4A"/>
                </a:solidFill>
                <a:latin typeface="Arial"/>
              </a:defRPr>
            </a:pPr>
            <a:r>
              <a:t>Cohort: n=68 prescribed, 52 initiated (76%)</a:t>
            </a:r>
          </a:p>
          <a:p>
            <a:pPr>
              <a:spcAft>
                <a:spcPts val="600"/>
              </a:spcAft>
              <a:defRPr sz="1800" b="0">
                <a:solidFill>
                  <a:srgbClr val="1B2A4A"/>
                </a:solidFill>
                <a:latin typeface="Arial"/>
              </a:defRPr>
            </a:pPr>
            <a:r>
              <a:t>65% unhoused | 55% stimulant use | 27% OUD | 19% trans/NB</a:t>
            </a:r>
          </a:p>
          <a:p>
            <a:pPr>
              <a:spcAft>
                <a:spcPts val="600"/>
              </a:spcAft>
              <a:defRPr sz="1800" b="0">
                <a:solidFill>
                  <a:srgbClr val="1B2A4A"/>
                </a:solidFill>
                <a:latin typeface="Arial"/>
              </a:defRPr>
            </a:pPr>
            <a:r>
              <a:t>Delivery: 304 injections (58% clinic, 21% shelter, 23% outreach)</a:t>
            </a:r>
          </a:p>
          <a:p>
            <a:pPr>
              <a:spcAft>
                <a:spcPts val="600"/>
              </a:spcAft>
              <a:defRPr sz="1800" b="0">
                <a:solidFill>
                  <a:srgbClr val="1B2A4A"/>
                </a:solidFill>
                <a:latin typeface="Arial"/>
              </a:defRPr>
            </a:pPr>
            <a:r>
              <a:t>Timing: 78% on time | 17% delayed 8-28d | 7% delayed &gt;28d</a:t>
            </a:r>
          </a:p>
          <a:p>
            <a:pPr>
              <a:spcAft>
                <a:spcPts val="600"/>
              </a:spcAft>
              <a:defRPr sz="1800" b="0">
                <a:solidFill>
                  <a:srgbClr val="1B2A4A"/>
                </a:solidFill>
                <a:latin typeface="Arial"/>
              </a:defRPr>
            </a:pPr>
            <a:r>
              <a:t>HIV testing: 68% included any testing; 61% guideline-concordant</a:t>
            </a:r>
          </a:p>
          <a:p>
            <a:pPr>
              <a:spcAft>
                <a:spcPts val="600"/>
              </a:spcAft>
              <a:defRPr sz="1800" b="0">
                <a:solidFill>
                  <a:srgbClr val="1B2A4A"/>
                </a:solidFill>
                <a:latin typeface="Arial"/>
              </a:defRPr>
            </a:pPr>
            <a:r>
              <a:t>Seroconversions: 2 (both during prolonged lapses, NOT delayed dosing)</a:t>
            </a:r>
          </a:p>
          <a:p>
            <a:pPr>
              <a:spcAft>
                <a:spcPts val="600"/>
              </a:spcAft>
              <a:defRPr sz="1800" b="1">
                <a:solidFill>
                  <a:srgbClr val="1B2A4A"/>
                </a:solidFill>
                <a:latin typeface="Arial"/>
              </a:defRPr>
            </a:pPr>
            <a:r>
              <a:t>Key message: Continuity of coverage &gt; protocol perfection</a:t>
            </a:r>
          </a:p>
        </p:txBody>
      </p:sp>
      <p:sp>
        <p:nvSpPr>
          <p:cNvPr id="5" name="TextBox 4"/>
          <p:cNvSpPr txBox="1"/>
          <p:nvPr/>
        </p:nvSpPr>
        <p:spPr>
          <a:xfrm>
            <a:off x="7772400" y="1828800"/>
            <a:ext cx="3657600" cy="1371600"/>
          </a:xfrm>
          <a:prstGeom prst="rect">
            <a:avLst/>
          </a:prstGeom>
          <a:noFill/>
        </p:spPr>
        <p:txBody>
          <a:bodyPr wrap="square">
            <a:spAutoFit/>
          </a:bodyPr>
          <a:lstStyle/>
          <a:p>
            <a:pPr algn="ctr">
              <a:defRPr sz="5400" b="1">
                <a:solidFill>
                  <a:srgbClr val="0095A8"/>
                </a:solidFill>
                <a:latin typeface="Garamond"/>
              </a:defRPr>
            </a:pPr>
            <a:r>
              <a:t>90%</a:t>
            </a:r>
          </a:p>
          <a:p>
            <a:pPr algn="ctr">
              <a:defRPr sz="1800" b="0">
                <a:solidFill>
                  <a:srgbClr val="1B2A4A"/>
                </a:solidFill>
                <a:latin typeface="Arial"/>
              </a:defRPr>
            </a:pPr>
            <a:r>
              <a:t>retained at 3 months</a:t>
            </a:r>
          </a:p>
        </p:txBody>
      </p:sp>
      <p:sp>
        <p:nvSpPr>
          <p:cNvPr id="6" name="TextBox 5"/>
          <p:cNvSpPr txBox="1"/>
          <p:nvPr/>
        </p:nvSpPr>
        <p:spPr>
          <a:xfrm>
            <a:off x="7772400" y="3474720"/>
            <a:ext cx="3657600" cy="1371600"/>
          </a:xfrm>
          <a:prstGeom prst="rect">
            <a:avLst/>
          </a:prstGeom>
          <a:noFill/>
        </p:spPr>
        <p:txBody>
          <a:bodyPr wrap="square">
            <a:spAutoFit/>
          </a:bodyPr>
          <a:lstStyle/>
          <a:p>
            <a:pPr algn="ctr">
              <a:defRPr sz="5400" b="1">
                <a:solidFill>
                  <a:srgbClr val="0095A8"/>
                </a:solidFill>
                <a:latin typeface="Garamond"/>
              </a:defRPr>
            </a:pPr>
            <a:r>
              <a:t>2</a:t>
            </a:r>
          </a:p>
          <a:p>
            <a:pPr algn="ctr">
              <a:defRPr sz="1800" b="0">
                <a:solidFill>
                  <a:srgbClr val="1B2A4A"/>
                </a:solidFill>
                <a:latin typeface="Arial"/>
              </a:defRPr>
            </a:pPr>
            <a:r>
              <a:t>seroconversions</a:t>
            </a:r>
            <a:br/>
            <a:r>
              <a:t>(prolonged lapses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95A8"/>
        </a:solidFill>
        <a:effectLst/>
      </p:bgPr>
    </p:bg>
    <p:spTree>
      <p:nvGrpSpPr>
        <p:cNvPr id="1" name=""/>
        <p:cNvGrpSpPr/>
        <p:nvPr/>
      </p:nvGrpSpPr>
      <p:grpSpPr/>
      <p:sp>
        <p:nvSpPr>
          <p:cNvPr id="2" name="TextBox 1"/>
          <p:cNvSpPr txBox="1"/>
          <p:nvPr/>
        </p:nvSpPr>
        <p:spPr>
          <a:xfrm>
            <a:off x="914400" y="2011680"/>
            <a:ext cx="10332720" cy="1371600"/>
          </a:xfrm>
          <a:prstGeom prst="rect">
            <a:avLst/>
          </a:prstGeom>
          <a:noFill/>
        </p:spPr>
        <p:txBody>
          <a:bodyPr wrap="square">
            <a:spAutoFit/>
          </a:bodyPr>
          <a:lstStyle/>
          <a:p>
            <a:pPr algn="ctr">
              <a:defRPr sz="4400" b="1" i="0">
                <a:solidFill>
                  <a:srgbClr val="FFFFFF"/>
                </a:solidFill>
                <a:latin typeface="Garamond"/>
              </a:defRPr>
            </a:pPr>
            <a:r>
              <a:t>Patient 1</a:t>
            </a:r>
          </a:p>
        </p:txBody>
      </p:sp>
      <p:sp>
        <p:nvSpPr>
          <p:cNvPr id="3" name="TextBox 2"/>
          <p:cNvSpPr txBox="1"/>
          <p:nvPr/>
        </p:nvSpPr>
        <p:spPr>
          <a:xfrm>
            <a:off x="914400" y="3474720"/>
            <a:ext cx="10332720" cy="914400"/>
          </a:xfrm>
          <a:prstGeom prst="rect">
            <a:avLst/>
          </a:prstGeom>
          <a:noFill/>
        </p:spPr>
        <p:txBody>
          <a:bodyPr wrap="square">
            <a:spAutoFit/>
          </a:bodyPr>
          <a:lstStyle/>
          <a:p>
            <a:pPr algn="ctr">
              <a:defRPr sz="2400" b="0" i="0">
                <a:solidFill>
                  <a:srgbClr val="FFFFFF"/>
                </a:solidFill>
                <a:latin typeface="Arial"/>
              </a:defRPr>
            </a:pPr>
            <a:r>
              <a:t>Lenacapavir as Resistance Protection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Patient 1 -- Background</a:t>
            </a:r>
          </a:p>
        </p:txBody>
      </p:sp>
      <p:sp>
        <p:nvSpPr>
          <p:cNvPr id="3" name="TextBox 2"/>
          <p:cNvSpPr txBox="1"/>
          <p:nvPr/>
        </p:nvSpPr>
        <p:spPr>
          <a:xfrm>
            <a:off x="640080" y="1280160"/>
            <a:ext cx="5029200" cy="548640"/>
          </a:xfrm>
          <a:prstGeom prst="rect">
            <a:avLst/>
          </a:prstGeom>
          <a:noFill/>
        </p:spPr>
        <p:txBody>
          <a:bodyPr wrap="square">
            <a:spAutoFit/>
          </a:bodyPr>
          <a:lstStyle/>
          <a:p>
            <a:pPr algn="l">
              <a:defRPr sz="2200" b="1" i="0">
                <a:solidFill>
                  <a:srgbClr val="0095A8"/>
                </a:solidFill>
                <a:latin typeface="Arial"/>
              </a:defRPr>
            </a:pPr>
            <a:r>
              <a:t>Demographics</a:t>
            </a:r>
          </a:p>
        </p:txBody>
      </p:sp>
      <p:sp>
        <p:nvSpPr>
          <p:cNvPr id="4" name="TextBox 3"/>
          <p:cNvSpPr txBox="1"/>
          <p:nvPr/>
        </p:nvSpPr>
        <p:spPr>
          <a:xfrm>
            <a:off x="640080" y="1828800"/>
            <a:ext cx="5029200" cy="4572000"/>
          </a:xfrm>
          <a:prstGeom prst="rect">
            <a:avLst/>
          </a:prstGeom>
          <a:noFill/>
        </p:spPr>
        <p:txBody>
          <a:bodyPr wrap="square">
            <a:spAutoFit/>
          </a:bodyPr>
          <a:lstStyle/>
          <a:p>
            <a:pPr>
              <a:spcAft>
                <a:spcPts val="600"/>
              </a:spcAft>
              <a:defRPr sz="1800" b="0">
                <a:solidFill>
                  <a:srgbClr val="FFFFFF"/>
                </a:solidFill>
                <a:latin typeface="Arial"/>
              </a:defRPr>
            </a:pPr>
            <a:r>
              <a:t>49-year-old man, housed in SRO (Tenderloin)</a:t>
            </a:r>
          </a:p>
          <a:p>
            <a:pPr>
              <a:spcAft>
                <a:spcPts val="600"/>
              </a:spcAft>
              <a:defRPr sz="1800" b="0">
                <a:solidFill>
                  <a:srgbClr val="FFFFFF"/>
                </a:solidFill>
                <a:latin typeface="Arial"/>
              </a:defRPr>
            </a:pPr>
            <a:r>
              <a:t>HIV diagnosed 2010</a:t>
            </a:r>
          </a:p>
          <a:p>
            <a:pPr>
              <a:spcAft>
                <a:spcPts val="600"/>
              </a:spcAft>
              <a:defRPr sz="1800" b="0">
                <a:solidFill>
                  <a:srgbClr val="FFFFFF"/>
                </a:solidFill>
                <a:latin typeface="Arial"/>
              </a:defRPr>
            </a:pPr>
            <a:r>
              <a:t>Schizophrenia, bipolar disorder, psychosis NOS</a:t>
            </a:r>
          </a:p>
          <a:p>
            <a:pPr>
              <a:spcAft>
                <a:spcPts val="600"/>
              </a:spcAft>
              <a:defRPr sz="1800" b="0">
                <a:solidFill>
                  <a:srgbClr val="FFFFFF"/>
                </a:solidFill>
                <a:latin typeface="Arial"/>
              </a:defRPr>
            </a:pPr>
            <a:r>
              <a:t>Methamphetamine use disorder</a:t>
            </a:r>
          </a:p>
          <a:p>
            <a:pPr>
              <a:spcAft>
                <a:spcPts val="600"/>
              </a:spcAft>
              <a:defRPr sz="1800" b="0">
                <a:solidFill>
                  <a:srgbClr val="FFFFFF"/>
                </a:solidFill>
                <a:latin typeface="Arial"/>
              </a:defRPr>
            </a:pPr>
            <a:r>
              <a:t>Recurrent skin infections</a:t>
            </a:r>
          </a:p>
          <a:p>
            <a:pPr>
              <a:spcAft>
                <a:spcPts val="600"/>
              </a:spcAft>
              <a:defRPr sz="1800" b="0">
                <a:solidFill>
                  <a:srgbClr val="FFFFFF"/>
                </a:solidFill>
                <a:latin typeface="Arial"/>
              </a:defRPr>
            </a:pPr>
            <a:r>
              <a:t>NOT interested in antipsychotics or psychiatry</a:t>
            </a:r>
          </a:p>
          <a:p>
            <a:pPr>
              <a:spcAft>
                <a:spcPts val="600"/>
              </a:spcAft>
              <a:defRPr sz="1800" b="0">
                <a:solidFill>
                  <a:srgbClr val="FFFFFF"/>
                </a:solidFill>
                <a:latin typeface="Arial"/>
              </a:defRPr>
            </a:pPr>
            <a:r>
              <a:t>No cell phone -- agreed to outreach RN visits at SRO</a:t>
            </a:r>
          </a:p>
        </p:txBody>
      </p:sp>
      <p:sp>
        <p:nvSpPr>
          <p:cNvPr id="5" name="TextBox 4"/>
          <p:cNvSpPr txBox="1"/>
          <p:nvPr/>
        </p:nvSpPr>
        <p:spPr>
          <a:xfrm>
            <a:off x="6217920" y="1280160"/>
            <a:ext cx="5303520" cy="548640"/>
          </a:xfrm>
          <a:prstGeom prst="rect">
            <a:avLst/>
          </a:prstGeom>
          <a:noFill/>
        </p:spPr>
        <p:txBody>
          <a:bodyPr wrap="square">
            <a:spAutoFit/>
          </a:bodyPr>
          <a:lstStyle/>
          <a:p>
            <a:pPr algn="l">
              <a:defRPr sz="2200" b="1" i="0">
                <a:solidFill>
                  <a:srgbClr val="0095A8"/>
                </a:solidFill>
                <a:latin typeface="Arial"/>
              </a:defRPr>
            </a:pPr>
            <a:r>
              <a:t>HIV History &amp; Baseline</a:t>
            </a:r>
          </a:p>
        </p:txBody>
      </p:sp>
      <p:sp>
        <p:nvSpPr>
          <p:cNvPr id="6" name="TextBox 5"/>
          <p:cNvSpPr txBox="1"/>
          <p:nvPr/>
        </p:nvSpPr>
        <p:spPr>
          <a:xfrm>
            <a:off x="6217920" y="1828800"/>
            <a:ext cx="5303520" cy="4572000"/>
          </a:xfrm>
          <a:prstGeom prst="rect">
            <a:avLst/>
          </a:prstGeom>
          <a:noFill/>
        </p:spPr>
        <p:txBody>
          <a:bodyPr wrap="square">
            <a:spAutoFit/>
          </a:bodyPr>
          <a:lstStyle/>
          <a:p>
            <a:pPr>
              <a:spcAft>
                <a:spcPts val="600"/>
              </a:spcAft>
              <a:defRPr sz="1800" b="0">
                <a:solidFill>
                  <a:srgbClr val="FFFFFF"/>
                </a:solidFill>
                <a:latin typeface="Arial"/>
              </a:defRPr>
            </a:pPr>
            <a:r>
              <a:t>Unable to maintain oral ART for 5 years</a:t>
            </a:r>
          </a:p>
          <a:p>
            <a:pPr>
              <a:spcAft>
                <a:spcPts val="600"/>
              </a:spcAft>
              <a:defRPr sz="1800" b="0">
                <a:solidFill>
                  <a:srgbClr val="FFFFFF"/>
                </a:solidFill>
                <a:latin typeface="Arial"/>
              </a:defRPr>
            </a:pPr>
            <a:r>
              <a:t>Prior: EFV/TDF/FTC, RPV/TDF/FTC, EVG/c/TAF/FTC, BIC/TAF/FTC</a:t>
            </a:r>
          </a:p>
          <a:p>
            <a:pPr>
              <a:spcAft>
                <a:spcPts val="600"/>
              </a:spcAft>
              <a:defRPr sz="1800" b="0">
                <a:solidFill>
                  <a:srgbClr val="FFFFFF"/>
                </a:solidFill>
                <a:latin typeface="Arial"/>
              </a:defRPr>
            </a:pPr>
            <a:r>
              <a:t>Hep B: immune</a:t>
            </a:r>
          </a:p>
          <a:p>
            <a:pPr>
              <a:spcAft>
                <a:spcPts val="600"/>
              </a:spcAft>
              <a:defRPr sz="1800" b="0">
                <a:solidFill>
                  <a:srgbClr val="FFFFFF"/>
                </a:solidFill>
                <a:latin typeface="Arial"/>
              </a:defRPr>
            </a:pPr>
            <a:r>
              <a:t>CD4: 334 | VL: 340 c/mL</a:t>
            </a:r>
          </a:p>
          <a:p>
            <a:pPr>
              <a:spcAft>
                <a:spcPts val="600"/>
              </a:spcAft>
              <a:defRPr sz="1800" b="0">
                <a:solidFill>
                  <a:srgbClr val="FFFFFF"/>
                </a:solidFill>
                <a:latin typeface="Arial"/>
              </a:defRPr>
            </a:pPr>
            <a:r>
              <a:t>3rd visit to MXM in 3 months -- first sustained engagement</a:t>
            </a:r>
          </a:p>
        </p:txBody>
      </p:sp>
      <p:sp>
        <p:nvSpPr>
          <p:cNvPr id="7" name="Rounded Rectangle 6"/>
          <p:cNvSpPr/>
          <p:nvPr/>
        </p:nvSpPr>
        <p:spPr>
          <a:xfrm>
            <a:off x="6217920" y="4846320"/>
            <a:ext cx="5303520" cy="91440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333333"/>
                </a:solidFill>
                <a:latin typeface="Arial"/>
              </a:defRPr>
            </a:pPr>
            <a:r>
              <a:t>Genotype: Y181C + M184V = RPV excluded. CAB remains active.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spAutoFit/>
          </a:bodyPr>
          <a:lstStyle/>
          <a:p>
            <a:pPr algn="l">
              <a:defRPr sz="2800" b="1" i="0">
                <a:solidFill>
                  <a:srgbClr val="FFFFFF"/>
                </a:solidFill>
                <a:latin typeface="Arial"/>
              </a:defRPr>
            </a:pPr>
            <a:r>
              <a:t>Poll Everywhere</a:t>
            </a:r>
          </a:p>
        </p:txBody>
      </p:sp>
      <p:sp>
        <p:nvSpPr>
          <p:cNvPr id="4" name="TextBox 3"/>
          <p:cNvSpPr txBox="1"/>
          <p:nvPr/>
        </p:nvSpPr>
        <p:spPr>
          <a:xfrm>
            <a:off x="731520" y="1463040"/>
            <a:ext cx="10515600" cy="1097280"/>
          </a:xfrm>
          <a:prstGeom prst="rect">
            <a:avLst/>
          </a:prstGeom>
          <a:noFill/>
        </p:spPr>
        <p:txBody>
          <a:bodyPr wrap="square">
            <a:spAutoFit/>
          </a:bodyPr>
          <a:lstStyle/>
          <a:p>
            <a:pPr algn="l">
              <a:defRPr sz="2800" b="1" i="0">
                <a:solidFill>
                  <a:srgbClr val="1B2A4A"/>
                </a:solidFill>
                <a:latin typeface="Garamond"/>
              </a:defRPr>
            </a:pPr>
            <a:r>
              <a:t>Would you start this patient on LA-ART?</a:t>
            </a:r>
          </a:p>
        </p:txBody>
      </p:sp>
      <p:sp>
        <p:nvSpPr>
          <p:cNvPr id="5" name="TextBox 4"/>
          <p:cNvSpPr txBox="1"/>
          <p:nvPr/>
        </p:nvSpPr>
        <p:spPr>
          <a:xfrm>
            <a:off x="1097280" y="2743200"/>
            <a:ext cx="9601200" cy="502920"/>
          </a:xfrm>
          <a:prstGeom prst="rect">
            <a:avLst/>
          </a:prstGeom>
          <a:noFill/>
        </p:spPr>
        <p:txBody>
          <a:bodyPr wrap="square">
            <a:spAutoFit/>
          </a:bodyPr>
          <a:lstStyle/>
          <a:p>
            <a:pPr algn="l">
              <a:defRPr sz="2000" b="0" i="0">
                <a:solidFill>
                  <a:srgbClr val="333333"/>
                </a:solidFill>
                <a:latin typeface="Arial"/>
              </a:defRPr>
            </a:pPr>
            <a:r>
              <a:t>A: No -- not with untreated schizophrenia/psychosis</a:t>
            </a:r>
          </a:p>
        </p:txBody>
      </p:sp>
      <p:sp>
        <p:nvSpPr>
          <p:cNvPr id="6" name="TextBox 5"/>
          <p:cNvSpPr txBox="1"/>
          <p:nvPr/>
        </p:nvSpPr>
        <p:spPr>
          <a:xfrm>
            <a:off x="1097280" y="3383280"/>
            <a:ext cx="9601200" cy="502920"/>
          </a:xfrm>
          <a:prstGeom prst="rect">
            <a:avLst/>
          </a:prstGeom>
          <a:noFill/>
        </p:spPr>
        <p:txBody>
          <a:bodyPr wrap="square">
            <a:spAutoFit/>
          </a:bodyPr>
          <a:lstStyle/>
          <a:p>
            <a:pPr algn="l">
              <a:defRPr sz="2000" b="0" i="0">
                <a:solidFill>
                  <a:srgbClr val="333333"/>
                </a:solidFill>
                <a:latin typeface="Arial"/>
              </a:defRPr>
            </a:pPr>
            <a:r>
              <a:t>B: Yes, but wait until he has a cell phone</a:t>
            </a:r>
          </a:p>
        </p:txBody>
      </p:sp>
      <p:sp>
        <p:nvSpPr>
          <p:cNvPr id="7" name="TextBox 6"/>
          <p:cNvSpPr txBox="1"/>
          <p:nvPr/>
        </p:nvSpPr>
        <p:spPr>
          <a:xfrm>
            <a:off x="1097280" y="4023360"/>
            <a:ext cx="9601200" cy="502920"/>
          </a:xfrm>
          <a:prstGeom prst="rect">
            <a:avLst/>
          </a:prstGeom>
          <a:noFill/>
        </p:spPr>
        <p:txBody>
          <a:bodyPr wrap="square">
            <a:spAutoFit/>
          </a:bodyPr>
          <a:lstStyle/>
          <a:p>
            <a:pPr algn="l">
              <a:defRPr sz="2000" b="0" i="0">
                <a:solidFill>
                  <a:srgbClr val="333333"/>
                </a:solidFill>
                <a:latin typeface="Arial"/>
              </a:defRPr>
            </a:pPr>
            <a:r>
              <a:t>C: Yes -- start CAB/RPV monthly</a:t>
            </a:r>
          </a:p>
        </p:txBody>
      </p:sp>
      <p:sp>
        <p:nvSpPr>
          <p:cNvPr id="8" name="TextBox 7"/>
          <p:cNvSpPr txBox="1"/>
          <p:nvPr/>
        </p:nvSpPr>
        <p:spPr>
          <a:xfrm>
            <a:off x="1097280" y="4663440"/>
            <a:ext cx="9601200" cy="502920"/>
          </a:xfrm>
          <a:prstGeom prst="rect">
            <a:avLst/>
          </a:prstGeom>
          <a:noFill/>
        </p:spPr>
        <p:txBody>
          <a:bodyPr wrap="square">
            <a:spAutoFit/>
          </a:bodyPr>
          <a:lstStyle/>
          <a:p>
            <a:pPr algn="l">
              <a:defRPr sz="2000" b="0" i="0">
                <a:solidFill>
                  <a:srgbClr val="333333"/>
                </a:solidFill>
                <a:latin typeface="Arial"/>
              </a:defRPr>
            </a:pPr>
            <a:r>
              <a:t>D: Yes -- start CAB monthly + LEN q6 months</a:t>
            </a:r>
          </a:p>
        </p:txBody>
      </p:sp>
      <p:sp>
        <p:nvSpPr>
          <p:cNvPr id="9" name="TextBox 8"/>
          <p:cNvSpPr txBox="1"/>
          <p:nvPr/>
        </p:nvSpPr>
        <p:spPr>
          <a:xfrm>
            <a:off x="1097280" y="5303520"/>
            <a:ext cx="9601200" cy="502920"/>
          </a:xfrm>
          <a:prstGeom prst="rect">
            <a:avLst/>
          </a:prstGeom>
          <a:noFill/>
        </p:spPr>
        <p:txBody>
          <a:bodyPr wrap="square">
            <a:spAutoFit/>
          </a:bodyPr>
          <a:lstStyle/>
          <a:p>
            <a:pPr algn="l">
              <a:defRPr sz="2000" b="0" i="0">
                <a:solidFill>
                  <a:srgbClr val="333333"/>
                </a:solidFill>
                <a:latin typeface="Arial"/>
              </a:defRPr>
            </a:pPr>
            <a:r>
              <a:t>E: Yes -- start CAB/RPV q2-months + LEN q6 months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Patient 1 -- Answer &amp; Clinical Course</a:t>
            </a:r>
          </a:p>
        </p:txBody>
      </p:sp>
      <p:sp>
        <p:nvSpPr>
          <p:cNvPr id="3" name="Rounded Rectangle 2"/>
          <p:cNvSpPr/>
          <p:nvPr/>
        </p:nvSpPr>
        <p:spPr>
          <a:xfrm>
            <a:off x="731520" y="1371600"/>
            <a:ext cx="5029200" cy="640080"/>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latin typeface="Arial"/>
              </a:defRPr>
            </a:pPr>
            <a:r>
              <a:t>Answer: D -- CAB monthly + LEN q6 months</a:t>
            </a:r>
          </a:p>
        </p:txBody>
      </p:sp>
      <p:sp>
        <p:nvSpPr>
          <p:cNvPr id="4" name="TextBox 3"/>
          <p:cNvSpPr txBox="1"/>
          <p:nvPr/>
        </p:nvSpPr>
        <p:spPr>
          <a:xfrm>
            <a:off x="731520" y="2194560"/>
            <a:ext cx="5029200" cy="3200400"/>
          </a:xfrm>
          <a:prstGeom prst="rect">
            <a:avLst/>
          </a:prstGeom>
          <a:noFill/>
        </p:spPr>
        <p:txBody>
          <a:bodyPr wrap="square">
            <a:spAutoFit/>
          </a:bodyPr>
          <a:lstStyle/>
          <a:p>
            <a:pPr>
              <a:spcAft>
                <a:spcPts val="600"/>
              </a:spcAft>
              <a:defRPr sz="1600" b="0">
                <a:solidFill>
                  <a:srgbClr val="FFFFFF"/>
                </a:solidFill>
                <a:latin typeface="Arial"/>
              </a:defRPr>
            </a:pPr>
            <a:r>
              <a:t>A: Untreated psych is the rule at MXM, not the exception</a:t>
            </a:r>
          </a:p>
          <a:p>
            <a:pPr>
              <a:spcAft>
                <a:spcPts val="600"/>
              </a:spcAft>
              <a:defRPr sz="1600" b="0">
                <a:solidFill>
                  <a:srgbClr val="FFFFFF"/>
                </a:solidFill>
                <a:latin typeface="Arial"/>
              </a:defRPr>
            </a:pPr>
            <a:r>
              <a:t>B: No phone does not equal barrier -- outreach RN goes to SRO</a:t>
            </a:r>
          </a:p>
          <a:p>
            <a:pPr>
              <a:spcAft>
                <a:spcPts val="600"/>
              </a:spcAft>
              <a:defRPr sz="1600" b="0">
                <a:solidFill>
                  <a:srgbClr val="FFFFFF"/>
                </a:solidFill>
                <a:latin typeface="Arial"/>
              </a:defRPr>
            </a:pPr>
            <a:r>
              <a:t>C: Y181C = RPV resistance. CAB alone risks INSTI resistance</a:t>
            </a:r>
          </a:p>
          <a:p>
            <a:pPr>
              <a:spcAft>
                <a:spcPts val="600"/>
              </a:spcAft>
              <a:defRPr sz="1600" b="1">
                <a:solidFill>
                  <a:srgbClr val="FFFFFF"/>
                </a:solidFill>
                <a:latin typeface="Arial"/>
              </a:defRPr>
            </a:pPr>
            <a:r>
              <a:t>D: Drop RPV, add LEN as capsid inhibitor backbone</a:t>
            </a:r>
          </a:p>
          <a:p>
            <a:pPr>
              <a:spcAft>
                <a:spcPts val="600"/>
              </a:spcAft>
              <a:defRPr sz="1600" b="0">
                <a:solidFill>
                  <a:srgbClr val="FFFFFF"/>
                </a:solidFill>
                <a:latin typeface="Arial"/>
              </a:defRPr>
            </a:pPr>
            <a:r>
              <a:t>E: Including RPV with resistance weakens regimen</a:t>
            </a:r>
          </a:p>
        </p:txBody>
      </p:sp>
      <p:sp>
        <p:nvSpPr>
          <p:cNvPr id="5" name="TextBox 4"/>
          <p:cNvSpPr txBox="1"/>
          <p:nvPr/>
        </p:nvSpPr>
        <p:spPr>
          <a:xfrm>
            <a:off x="6217920" y="1371600"/>
            <a:ext cx="5303520" cy="457200"/>
          </a:xfrm>
          <a:prstGeom prst="rect">
            <a:avLst/>
          </a:prstGeom>
          <a:noFill/>
        </p:spPr>
        <p:txBody>
          <a:bodyPr wrap="square">
            <a:spAutoFit/>
          </a:bodyPr>
          <a:lstStyle/>
          <a:p>
            <a:pPr algn="l">
              <a:defRPr sz="2200" b="1" i="0">
                <a:solidFill>
                  <a:srgbClr val="0095A8"/>
                </a:solidFill>
                <a:latin typeface="Arial"/>
              </a:defRPr>
            </a:pPr>
            <a:r>
              <a:t>Clinical Course</a:t>
            </a:r>
          </a:p>
        </p:txBody>
      </p:sp>
      <p:sp>
        <p:nvSpPr>
          <p:cNvPr id="6" name="TextBox 5"/>
          <p:cNvSpPr txBox="1"/>
          <p:nvPr/>
        </p:nvSpPr>
        <p:spPr>
          <a:xfrm>
            <a:off x="6217920" y="2011680"/>
            <a:ext cx="5303520" cy="4114800"/>
          </a:xfrm>
          <a:prstGeom prst="rect">
            <a:avLst/>
          </a:prstGeom>
          <a:noFill/>
        </p:spPr>
        <p:txBody>
          <a:bodyPr wrap="square">
            <a:spAutoFit/>
          </a:bodyPr>
          <a:lstStyle/>
          <a:p>
            <a:pPr>
              <a:spcAft>
                <a:spcPts val="600"/>
              </a:spcAft>
              <a:defRPr sz="1600" b="0">
                <a:solidFill>
                  <a:srgbClr val="FFFFFF"/>
                </a:solidFill>
                <a:latin typeface="Arial"/>
              </a:defRPr>
            </a:pPr>
            <a:r>
              <a:t>Phase 1 -- Success (14 months):</a:t>
            </a:r>
          </a:p>
          <a:p>
            <a:pPr>
              <a:spcAft>
                <a:spcPts val="600"/>
              </a:spcAft>
              <a:defRPr sz="1600" b="0">
                <a:solidFill>
                  <a:srgbClr val="FFFFFF"/>
                </a:solidFill>
                <a:latin typeface="Arial"/>
              </a:defRPr>
            </a:pPr>
            <a:r>
              <a:t>  CAB monthly + LEN q6 months</a:t>
            </a:r>
          </a:p>
          <a:p>
            <a:pPr>
              <a:spcAft>
                <a:spcPts val="600"/>
              </a:spcAft>
              <a:defRPr sz="1600" b="0">
                <a:solidFill>
                  <a:srgbClr val="FFFFFF"/>
                </a:solidFill>
                <a:latin typeface="Arial"/>
              </a:defRPr>
            </a:pPr>
            <a:r>
              <a:t>  16 injections, all on time, VL undetectable</a:t>
            </a:r>
          </a:p>
          <a:p>
            <a:pPr>
              <a:spcAft>
                <a:spcPts val="600"/>
              </a:spcAft>
              <a:defRPr sz="1600" b="0">
                <a:solidFill>
                  <a:srgbClr val="FFFFFF"/>
                </a:solidFill>
                <a:latin typeface="Arial"/>
              </a:defRPr>
            </a:pPr>
          </a:p>
          <a:p>
            <a:pPr>
              <a:spcAft>
                <a:spcPts val="600"/>
              </a:spcAft>
              <a:defRPr sz="1600" b="0">
                <a:solidFill>
                  <a:srgbClr val="FFFFFF"/>
                </a:solidFill>
                <a:latin typeface="Arial"/>
              </a:defRPr>
            </a:pPr>
            <a:r>
              <a:t>Then: LTFU</a:t>
            </a:r>
          </a:p>
          <a:p>
            <a:pPr>
              <a:spcAft>
                <a:spcPts val="600"/>
              </a:spcAft>
              <a:defRPr sz="1600" b="0">
                <a:solidFill>
                  <a:srgbClr val="FFFFFF"/>
                </a:solidFill>
                <a:latin typeface="Arial"/>
              </a:defRPr>
            </a:pPr>
            <a:r>
              <a:t>  Disappeared for 3 months</a:t>
            </a:r>
          </a:p>
          <a:p>
            <a:pPr>
              <a:spcAft>
                <a:spcPts val="600"/>
              </a:spcAft>
              <a:defRPr sz="1600" b="0">
                <a:solidFill>
                  <a:srgbClr val="FFFFFF"/>
                </a:solidFill>
                <a:latin typeface="Arial"/>
              </a:defRPr>
            </a:pPr>
            <a:r>
              <a:t>  Returns 10 wks late for CAB, 4 wks late for LEN</a:t>
            </a:r>
          </a:p>
          <a:p>
            <a:pPr>
              <a:spcAft>
                <a:spcPts val="600"/>
              </a:spcAft>
              <a:defRPr sz="1600" b="0">
                <a:solidFill>
                  <a:srgbClr val="FFFFFF"/>
                </a:solidFill>
                <a:latin typeface="Arial"/>
              </a:defRPr>
            </a:pPr>
            <a:r>
              <a:t>  Reports: biked &gt;300 miles to another city</a:t>
            </a:r>
          </a:p>
          <a:p>
            <a:pPr>
              <a:spcAft>
                <a:spcPts val="600"/>
              </a:spcAft>
              <a:defRPr sz="1600" b="0">
                <a:solidFill>
                  <a:srgbClr val="FFFFFF"/>
                </a:solidFill>
                <a:latin typeface="Arial"/>
              </a:defRPr>
            </a:pPr>
            <a:r>
              <a:t>  Wants to restart injections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spAutoFit/>
          </a:bodyPr>
          <a:lstStyle/>
          <a:p>
            <a:pPr algn="l">
              <a:defRPr sz="2800" b="1" i="0">
                <a:solidFill>
                  <a:srgbClr val="FFFFFF"/>
                </a:solidFill>
                <a:latin typeface="Arial"/>
              </a:defRPr>
            </a:pPr>
            <a:r>
              <a:t>Poll Everywhere</a:t>
            </a:r>
          </a:p>
        </p:txBody>
      </p:sp>
      <p:sp>
        <p:nvSpPr>
          <p:cNvPr id="4" name="TextBox 3"/>
          <p:cNvSpPr txBox="1"/>
          <p:nvPr/>
        </p:nvSpPr>
        <p:spPr>
          <a:xfrm>
            <a:off x="731520" y="1463040"/>
            <a:ext cx="10515600" cy="1097280"/>
          </a:xfrm>
          <a:prstGeom prst="rect">
            <a:avLst/>
          </a:prstGeom>
          <a:noFill/>
        </p:spPr>
        <p:txBody>
          <a:bodyPr wrap="square">
            <a:spAutoFit/>
          </a:bodyPr>
          <a:lstStyle/>
          <a:p>
            <a:pPr algn="l">
              <a:defRPr sz="2800" b="1" i="0">
                <a:solidFill>
                  <a:srgbClr val="1B2A4A"/>
                </a:solidFill>
                <a:latin typeface="Garamond"/>
              </a:defRPr>
            </a:pPr>
            <a:r>
              <a:t>In addition to drawing HIV VL + RNA genotype, what do you do today?</a:t>
            </a:r>
          </a:p>
        </p:txBody>
      </p:sp>
      <p:sp>
        <p:nvSpPr>
          <p:cNvPr id="5" name="TextBox 4"/>
          <p:cNvSpPr txBox="1"/>
          <p:nvPr/>
        </p:nvSpPr>
        <p:spPr>
          <a:xfrm>
            <a:off x="1097280" y="2743200"/>
            <a:ext cx="9601200" cy="502920"/>
          </a:xfrm>
          <a:prstGeom prst="rect">
            <a:avLst/>
          </a:prstGeom>
          <a:noFill/>
        </p:spPr>
        <p:txBody>
          <a:bodyPr wrap="square">
            <a:spAutoFit/>
          </a:bodyPr>
          <a:lstStyle/>
          <a:p>
            <a:pPr algn="l">
              <a:defRPr sz="2000" b="0" i="0">
                <a:solidFill>
                  <a:srgbClr val="333333"/>
                </a:solidFill>
                <a:latin typeface="Arial"/>
              </a:defRPr>
            </a:pPr>
            <a:r>
              <a:t>A: Nothing today -- have him return in 2-3 days once labs result</a:t>
            </a:r>
          </a:p>
        </p:txBody>
      </p:sp>
      <p:sp>
        <p:nvSpPr>
          <p:cNvPr id="6" name="TextBox 5"/>
          <p:cNvSpPr txBox="1"/>
          <p:nvPr/>
        </p:nvSpPr>
        <p:spPr>
          <a:xfrm>
            <a:off x="1097280" y="3383280"/>
            <a:ext cx="9601200" cy="502920"/>
          </a:xfrm>
          <a:prstGeom prst="rect">
            <a:avLst/>
          </a:prstGeom>
          <a:noFill/>
        </p:spPr>
        <p:txBody>
          <a:bodyPr wrap="square">
            <a:spAutoFit/>
          </a:bodyPr>
          <a:lstStyle/>
          <a:p>
            <a:pPr algn="l">
              <a:defRPr sz="2000" b="0" i="0">
                <a:solidFill>
                  <a:srgbClr val="333333"/>
                </a:solidFill>
                <a:latin typeface="Arial"/>
              </a:defRPr>
            </a:pPr>
            <a:r>
              <a:t>B: Start BIC/TAF/FTC oral bridge until labs return</a:t>
            </a:r>
          </a:p>
        </p:txBody>
      </p:sp>
      <p:sp>
        <p:nvSpPr>
          <p:cNvPr id="7" name="TextBox 6"/>
          <p:cNvSpPr txBox="1"/>
          <p:nvPr/>
        </p:nvSpPr>
        <p:spPr>
          <a:xfrm>
            <a:off x="1097280" y="4023360"/>
            <a:ext cx="9601200" cy="502920"/>
          </a:xfrm>
          <a:prstGeom prst="rect">
            <a:avLst/>
          </a:prstGeom>
          <a:noFill/>
        </p:spPr>
        <p:txBody>
          <a:bodyPr wrap="square">
            <a:spAutoFit/>
          </a:bodyPr>
          <a:lstStyle/>
          <a:p>
            <a:pPr algn="l">
              <a:defRPr sz="2000" b="0" i="0">
                <a:solidFill>
                  <a:srgbClr val="333333"/>
                </a:solidFill>
                <a:latin typeface="Arial"/>
              </a:defRPr>
            </a:pPr>
            <a:r>
              <a:t>C: Start DRV/c/TAF/FTC empirically until labs return</a:t>
            </a:r>
          </a:p>
        </p:txBody>
      </p:sp>
      <p:sp>
        <p:nvSpPr>
          <p:cNvPr id="8" name="TextBox 7"/>
          <p:cNvSpPr txBox="1"/>
          <p:nvPr/>
        </p:nvSpPr>
        <p:spPr>
          <a:xfrm>
            <a:off x="1097280" y="4663440"/>
            <a:ext cx="9601200" cy="502920"/>
          </a:xfrm>
          <a:prstGeom prst="rect">
            <a:avLst/>
          </a:prstGeom>
          <a:noFill/>
        </p:spPr>
        <p:txBody>
          <a:bodyPr wrap="square">
            <a:spAutoFit/>
          </a:bodyPr>
          <a:lstStyle/>
          <a:p>
            <a:pPr algn="l">
              <a:defRPr sz="2000" b="0" i="0">
                <a:solidFill>
                  <a:srgbClr val="333333"/>
                </a:solidFill>
                <a:latin typeface="Arial"/>
              </a:defRPr>
            </a:pPr>
            <a:r>
              <a:t>D: Administer LEN + CAB today and plan for close follow-up</a:t>
            </a:r>
          </a:p>
        </p:txBody>
      </p:sp>
      <p:sp>
        <p:nvSpPr>
          <p:cNvPr id="9" name="TextBox 8"/>
          <p:cNvSpPr txBox="1"/>
          <p:nvPr/>
        </p:nvSpPr>
        <p:spPr>
          <a:xfrm>
            <a:off x="1097280" y="5303520"/>
            <a:ext cx="9601200" cy="502920"/>
          </a:xfrm>
          <a:prstGeom prst="rect">
            <a:avLst/>
          </a:prstGeom>
          <a:noFill/>
        </p:spPr>
        <p:txBody>
          <a:bodyPr wrap="square">
            <a:spAutoFit/>
          </a:bodyPr>
          <a:lstStyle/>
          <a:p>
            <a:pPr algn="l">
              <a:defRPr sz="2000" b="0" i="0">
                <a:solidFill>
                  <a:srgbClr val="333333"/>
                </a:solidFill>
                <a:latin typeface="Arial"/>
              </a:defRPr>
            </a:pPr>
            <a:r>
              <a:t>E: Another reasonable option? (open to audience)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Patient 1 -- Resolution</a:t>
            </a:r>
          </a:p>
        </p:txBody>
      </p:sp>
      <p:sp>
        <p:nvSpPr>
          <p:cNvPr id="3" name="TextBox 2"/>
          <p:cNvSpPr txBox="1"/>
          <p:nvPr/>
        </p:nvSpPr>
        <p:spPr>
          <a:xfrm>
            <a:off x="3657600" y="1188720"/>
            <a:ext cx="5029200" cy="1371600"/>
          </a:xfrm>
          <a:prstGeom prst="rect">
            <a:avLst/>
          </a:prstGeom>
          <a:noFill/>
        </p:spPr>
        <p:txBody>
          <a:bodyPr wrap="square">
            <a:spAutoFit/>
          </a:bodyPr>
          <a:lstStyle/>
          <a:p>
            <a:pPr algn="ctr">
              <a:defRPr sz="3600" b="1">
                <a:solidFill>
                  <a:srgbClr val="0095A8"/>
                </a:solidFill>
                <a:latin typeface="Garamond"/>
              </a:defRPr>
            </a:pPr>
            <a:r>
              <a:t>VL UNDETECTABLE</a:t>
            </a:r>
          </a:p>
          <a:p>
            <a:pPr algn="ctr">
              <a:defRPr sz="1800" b="0">
                <a:solidFill>
                  <a:srgbClr val="FFFFFF"/>
                </a:solidFill>
                <a:latin typeface="Arial"/>
              </a:defRPr>
            </a:pPr>
            <a:r>
              <a:t>despite 10 wks late CAB, 4 wks late LEN</a:t>
            </a:r>
          </a:p>
        </p:txBody>
      </p:sp>
      <p:sp>
        <p:nvSpPr>
          <p:cNvPr id="4" name="Rounded Rectangle 3"/>
          <p:cNvSpPr/>
          <p:nvPr/>
        </p:nvSpPr>
        <p:spPr>
          <a:xfrm>
            <a:off x="731520" y="2926080"/>
            <a:ext cx="5029200" cy="1828800"/>
          </a:xfrm>
          <a:prstGeom prst="round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0">
                <a:solidFill>
                  <a:srgbClr val="FFFFFF"/>
                </a:solidFill>
                <a:latin typeface="Arial"/>
              </a:defRPr>
            </a:pPr>
            <a:r>
              <a:t>Teaching Point 1: Low-Barrier Philosophy</a:t>
            </a:r>
            <a:br/>
            <a:br/>
            <a:r>
              <a:t>In low-barrier settings, act with the opportunity in front of you. Don't wait for perfect lab data -- that delay = months of lost contact.</a:t>
            </a:r>
          </a:p>
        </p:txBody>
      </p:sp>
      <p:sp>
        <p:nvSpPr>
          <p:cNvPr id="5" name="Rounded Rectangle 4"/>
          <p:cNvSpPr/>
          <p:nvPr/>
        </p:nvSpPr>
        <p:spPr>
          <a:xfrm>
            <a:off x="6217920" y="2926080"/>
            <a:ext cx="5303520" cy="1828800"/>
          </a:xfrm>
          <a:prstGeom prst="round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0">
                <a:solidFill>
                  <a:srgbClr val="FFFFFF"/>
                </a:solidFill>
                <a:latin typeface="Arial"/>
              </a:defRPr>
            </a:pPr>
            <a:r>
              <a:t>Teaching Point 2: Why LEN Protected Him</a:t>
            </a:r>
            <a:br/>
            <a:br/>
            <a:r>
              <a:t>LEN has a longer PK tail than CAB. When CAB went subtherapeutic, LEN (capsid inhibitor) continued to suppress. Without LEN, INSTI resistance was almost certain during a 10-week CAB gap.</a:t>
            </a:r>
          </a:p>
        </p:txBody>
      </p:sp>
      <p:sp>
        <p:nvSpPr>
          <p:cNvPr id="6" name="TextBox 5"/>
          <p:cNvSpPr txBox="1"/>
          <p:nvPr/>
        </p:nvSpPr>
        <p:spPr>
          <a:xfrm>
            <a:off x="731520" y="5120640"/>
            <a:ext cx="10515600" cy="640080"/>
          </a:xfrm>
          <a:prstGeom prst="rect">
            <a:avLst/>
          </a:prstGeom>
          <a:noFill/>
        </p:spPr>
        <p:txBody>
          <a:bodyPr wrap="square">
            <a:spAutoFit/>
          </a:bodyPr>
          <a:lstStyle/>
          <a:p>
            <a:pPr algn="l">
              <a:defRPr sz="1400" b="0" i="0">
                <a:solidFill>
                  <a:srgbClr val="BBBBBB"/>
                </a:solidFill>
                <a:latin typeface="Arial"/>
              </a:defRPr>
            </a:pPr>
            <a:r>
              <a:t>Phase 2 (restart): 16 more injections over ~16 months, all on time, VL undetectable  |  Published: Mehtani et al., Open Forum Infect Dis 2025 (PMC12188974)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Patient 1 -- Current Status &amp; Population Question</a:t>
            </a:r>
          </a:p>
        </p:txBody>
      </p:sp>
      <p:sp>
        <p:nvSpPr>
          <p:cNvPr id="3" name="TextBox 2"/>
          <p:cNvSpPr txBox="1"/>
          <p:nvPr/>
        </p:nvSpPr>
        <p:spPr>
          <a:xfrm>
            <a:off x="731520" y="1371600"/>
            <a:ext cx="5029200" cy="2286000"/>
          </a:xfrm>
          <a:prstGeom prst="rect">
            <a:avLst/>
          </a:prstGeom>
          <a:noFill/>
        </p:spPr>
        <p:txBody>
          <a:bodyPr wrap="square">
            <a:spAutoFit/>
          </a:bodyPr>
          <a:lstStyle/>
          <a:p>
            <a:pPr>
              <a:spcAft>
                <a:spcPts val="600"/>
              </a:spcAft>
              <a:defRPr sz="1800" b="0">
                <a:solidFill>
                  <a:srgbClr val="FFFFFF"/>
                </a:solidFill>
                <a:latin typeface="Arial"/>
              </a:defRPr>
            </a:pPr>
            <a:r>
              <a:t>2nd LTFU after 16 months of success</a:t>
            </a:r>
          </a:p>
          <a:p>
            <a:pPr>
              <a:spcAft>
                <a:spcPts val="600"/>
              </a:spcAft>
              <a:defRPr sz="1800" b="0">
                <a:solidFill>
                  <a:srgbClr val="FFFFFF"/>
                </a:solidFill>
                <a:latin typeface="Arial"/>
              </a:defRPr>
            </a:pPr>
            <a:r>
              <a:t>11 weeks since last CAB dose</a:t>
            </a:r>
          </a:p>
          <a:p>
            <a:pPr>
              <a:spcAft>
                <a:spcPts val="600"/>
              </a:spcAft>
              <a:defRPr sz="1800" b="0">
                <a:solidFill>
                  <a:srgbClr val="FFFFFF"/>
                </a:solidFill>
                <a:latin typeface="Arial"/>
              </a:defRPr>
            </a:pPr>
            <a:r>
              <a:t>Still within LEN window (due ~26 weeks)</a:t>
            </a:r>
          </a:p>
          <a:p>
            <a:pPr>
              <a:spcAft>
                <a:spcPts val="600"/>
              </a:spcAft>
              <a:defRPr sz="1800" b="0">
                <a:solidFill>
                  <a:srgbClr val="FFFFFF"/>
                </a:solidFill>
                <a:latin typeface="Arial"/>
              </a:defRPr>
            </a:pPr>
            <a:r>
              <a:t>Cannot locate -- suspected &gt;3,000 miles away</a:t>
            </a:r>
          </a:p>
          <a:p>
            <a:pPr>
              <a:spcAft>
                <a:spcPts val="600"/>
              </a:spcAft>
              <a:defRPr sz="1800" b="0">
                <a:solidFill>
                  <a:srgbClr val="FFFFFF"/>
                </a:solidFill>
                <a:latin typeface="Arial"/>
              </a:defRPr>
            </a:pPr>
            <a:r>
              <a:t>Only patient in our cohort currently LTFU</a:t>
            </a:r>
          </a:p>
        </p:txBody>
      </p:sp>
      <p:sp>
        <p:nvSpPr>
          <p:cNvPr id="4" name="TextBox 3"/>
          <p:cNvSpPr txBox="1"/>
          <p:nvPr/>
        </p:nvSpPr>
        <p:spPr>
          <a:xfrm>
            <a:off x="731520" y="3840480"/>
            <a:ext cx="5029200" cy="1371600"/>
          </a:xfrm>
          <a:prstGeom prst="rect">
            <a:avLst/>
          </a:prstGeom>
          <a:noFill/>
        </p:spPr>
        <p:txBody>
          <a:bodyPr wrap="square">
            <a:spAutoFit/>
          </a:bodyPr>
          <a:lstStyle/>
          <a:p>
            <a:pPr>
              <a:spcAft>
                <a:spcPts val="600"/>
              </a:spcAft>
              <a:defRPr sz="1600" b="0">
                <a:solidFill>
                  <a:srgbClr val="BBBBBB"/>
                </a:solidFill>
                <a:latin typeface="Arial"/>
              </a:defRPr>
            </a:pPr>
            <a:r>
              <a:t>If resistance develops: likely to LEN, not INSTI class</a:t>
            </a:r>
          </a:p>
          <a:p>
            <a:pPr>
              <a:spcAft>
                <a:spcPts val="600"/>
              </a:spcAft>
              <a:defRPr sz="1600" b="0">
                <a:solidFill>
                  <a:srgbClr val="BBBBBB"/>
                </a:solidFill>
                <a:latin typeface="Arial"/>
              </a:defRPr>
            </a:pPr>
            <a:r>
              <a:t>INSTI-based options may remain available on re-engagement</a:t>
            </a:r>
          </a:p>
        </p:txBody>
      </p:sp>
      <p:sp>
        <p:nvSpPr>
          <p:cNvPr id="5" name="TextBox 4"/>
          <p:cNvSpPr txBox="1"/>
          <p:nvPr/>
        </p:nvSpPr>
        <p:spPr>
          <a:xfrm>
            <a:off x="5943600" y="1645920"/>
            <a:ext cx="5760720" cy="3200400"/>
          </a:xfrm>
          <a:prstGeom prst="rect">
            <a:avLst/>
          </a:prstGeom>
          <a:noFill/>
        </p:spPr>
        <p:txBody>
          <a:bodyPr wrap="square">
            <a:spAutoFit/>
          </a:bodyPr>
          <a:lstStyle/>
          <a:p>
            <a:pPr algn="ctr">
              <a:defRPr sz="2800" b="1" i="0">
                <a:solidFill>
                  <a:srgbClr val="0095A8"/>
                </a:solidFill>
                <a:latin typeface="Garamond"/>
              </a:defRPr>
            </a:pPr>
            <a:r>
              <a:t>Should LEN + CAB/RPV become the DEFAULT for high LTFU-risk patients -- as harm reduction to protect the INSTI class?</a:t>
            </a:r>
          </a:p>
        </p:txBody>
      </p:sp>
      <p:sp>
        <p:nvSpPr>
          <p:cNvPr id="6" name="TextBox 5"/>
          <p:cNvSpPr txBox="1"/>
          <p:nvPr/>
        </p:nvSpPr>
        <p:spPr>
          <a:xfrm>
            <a:off x="5943600" y="5029200"/>
            <a:ext cx="5760720" cy="1097280"/>
          </a:xfrm>
          <a:prstGeom prst="rect">
            <a:avLst/>
          </a:prstGeom>
          <a:noFill/>
        </p:spPr>
        <p:txBody>
          <a:bodyPr wrap="square">
            <a:spAutoFit/>
          </a:bodyPr>
          <a:lstStyle/>
          <a:p>
            <a:pPr algn="l">
              <a:defRPr sz="1400" b="0" i="0">
                <a:solidFill>
                  <a:srgbClr val="BBBBBB"/>
                </a:solidFill>
                <a:latin typeface="Arial"/>
              </a:defRPr>
            </a:pPr>
            <a:r>
              <a:t>At least 2 other patients at MXM started on CAB/RPV alone at other counties, became LTFU, presented months later with new INSTI resistance. LEN might have prevented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95A8"/>
        </a:solidFill>
        <a:effectLst/>
      </p:bgPr>
    </p:bg>
    <p:spTree>
      <p:nvGrpSpPr>
        <p:cNvPr id="1" name=""/>
        <p:cNvGrpSpPr/>
        <p:nvPr/>
      </p:nvGrpSpPr>
      <p:grpSpPr/>
      <p:sp>
        <p:nvSpPr>
          <p:cNvPr id="2" name="TextBox 1"/>
          <p:cNvSpPr txBox="1"/>
          <p:nvPr/>
        </p:nvSpPr>
        <p:spPr>
          <a:xfrm>
            <a:off x="914400" y="2011680"/>
            <a:ext cx="10332720" cy="1371600"/>
          </a:xfrm>
          <a:prstGeom prst="rect">
            <a:avLst/>
          </a:prstGeom>
          <a:noFill/>
        </p:spPr>
        <p:txBody>
          <a:bodyPr wrap="square">
            <a:spAutoFit/>
          </a:bodyPr>
          <a:lstStyle/>
          <a:p>
            <a:pPr algn="ctr">
              <a:defRPr sz="4400" b="1" i="0">
                <a:solidFill>
                  <a:srgbClr val="FFFFFF"/>
                </a:solidFill>
                <a:latin typeface="Garamond"/>
              </a:defRPr>
            </a:pPr>
            <a:r>
              <a:t>Patient 2</a:t>
            </a:r>
          </a:p>
        </p:txBody>
      </p:sp>
      <p:sp>
        <p:nvSpPr>
          <p:cNvPr id="3" name="TextBox 2"/>
          <p:cNvSpPr txBox="1"/>
          <p:nvPr/>
        </p:nvSpPr>
        <p:spPr>
          <a:xfrm>
            <a:off x="914400" y="3474720"/>
            <a:ext cx="10332720" cy="914400"/>
          </a:xfrm>
          <a:prstGeom prst="rect">
            <a:avLst/>
          </a:prstGeom>
          <a:noFill/>
        </p:spPr>
        <p:txBody>
          <a:bodyPr wrap="square">
            <a:spAutoFit/>
          </a:bodyPr>
          <a:lstStyle/>
          <a:p>
            <a:pPr algn="ctr">
              <a:defRPr sz="2400" b="0" i="0">
                <a:solidFill>
                  <a:srgbClr val="FFFFFF"/>
                </a:solidFill>
                <a:latin typeface="Arial"/>
              </a:defRPr>
            </a:pPr>
            <a:r>
              <a:t>Update: Unintentional LEN Monotherapy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Patient 2 -- Treatment Timeline</a:t>
            </a:r>
          </a:p>
        </p:txBody>
      </p:sp>
      <p:sp>
        <p:nvSpPr>
          <p:cNvPr id="3" name="Rectangle 2"/>
          <p:cNvSpPr/>
          <p:nvPr/>
        </p:nvSpPr>
        <p:spPr>
          <a:xfrm>
            <a:off x="457200" y="3200400"/>
            <a:ext cx="112471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4380" y="3040380"/>
            <a:ext cx="320040" cy="32004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737360"/>
            <a:ext cx="1280160" cy="1005840"/>
          </a:xfrm>
          <a:prstGeom prst="rect">
            <a:avLst/>
          </a:prstGeom>
          <a:noFill/>
        </p:spPr>
        <p:txBody>
          <a:bodyPr wrap="square">
            <a:spAutoFit/>
          </a:bodyPr>
          <a:lstStyle/>
          <a:p>
            <a:pPr algn="ctr">
              <a:defRPr sz="1000" b="1" i="0">
                <a:solidFill>
                  <a:srgbClr val="FFFFFF"/>
                </a:solidFill>
                <a:latin typeface="Arial"/>
              </a:defRPr>
            </a:pPr>
            <a:r>
              <a:t>W-29</a:t>
            </a:r>
            <a:br/>
            <a:r>
              <a:t>Baseline</a:t>
            </a:r>
          </a:p>
        </p:txBody>
      </p:sp>
      <p:sp>
        <p:nvSpPr>
          <p:cNvPr id="6" name="TextBox 5"/>
          <p:cNvSpPr txBox="1"/>
          <p:nvPr/>
        </p:nvSpPr>
        <p:spPr>
          <a:xfrm>
            <a:off x="365760" y="3566160"/>
            <a:ext cx="1280160" cy="914400"/>
          </a:xfrm>
          <a:prstGeom prst="rect">
            <a:avLst/>
          </a:prstGeom>
          <a:noFill/>
        </p:spPr>
        <p:txBody>
          <a:bodyPr wrap="square">
            <a:spAutoFit/>
          </a:bodyPr>
          <a:lstStyle/>
          <a:p>
            <a:pPr algn="ctr">
              <a:defRPr sz="900" b="0" i="0">
                <a:solidFill>
                  <a:srgbClr val="BBBBBB"/>
                </a:solidFill>
                <a:latin typeface="Arial"/>
              </a:defRPr>
            </a:pPr>
            <a:r>
              <a:t>VL 177,992</a:t>
            </a:r>
            <a:br/>
            <a:r>
              <a:t>CD4 187</a:t>
            </a:r>
          </a:p>
        </p:txBody>
      </p:sp>
      <p:sp>
        <p:nvSpPr>
          <p:cNvPr id="7" name="Oval 6"/>
          <p:cNvSpPr/>
          <p:nvPr/>
        </p:nvSpPr>
        <p:spPr>
          <a:xfrm>
            <a:off x="2400300" y="3040380"/>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0" y="1737360"/>
            <a:ext cx="1280160" cy="1005840"/>
          </a:xfrm>
          <a:prstGeom prst="rect">
            <a:avLst/>
          </a:prstGeom>
          <a:noFill/>
        </p:spPr>
        <p:txBody>
          <a:bodyPr wrap="square">
            <a:spAutoFit/>
          </a:bodyPr>
          <a:lstStyle/>
          <a:p>
            <a:pPr algn="ctr">
              <a:defRPr sz="1000" b="1" i="0">
                <a:solidFill>
                  <a:srgbClr val="FFFFFF"/>
                </a:solidFill>
                <a:latin typeface="Arial"/>
              </a:defRPr>
            </a:pPr>
            <a:r>
              <a:t>Dose 2-3</a:t>
            </a:r>
          </a:p>
        </p:txBody>
      </p:sp>
      <p:sp>
        <p:nvSpPr>
          <p:cNvPr id="9" name="TextBox 8"/>
          <p:cNvSpPr txBox="1"/>
          <p:nvPr/>
        </p:nvSpPr>
        <p:spPr>
          <a:xfrm>
            <a:off x="2011680" y="3566160"/>
            <a:ext cx="1280160" cy="914400"/>
          </a:xfrm>
          <a:prstGeom prst="rect">
            <a:avLst/>
          </a:prstGeom>
          <a:noFill/>
        </p:spPr>
        <p:txBody>
          <a:bodyPr wrap="square">
            <a:spAutoFit/>
          </a:bodyPr>
          <a:lstStyle/>
          <a:p>
            <a:pPr algn="ctr">
              <a:defRPr sz="900" b="0" i="0">
                <a:solidFill>
                  <a:srgbClr val="BBBBBB"/>
                </a:solidFill>
                <a:latin typeface="Arial"/>
              </a:defRPr>
            </a:pPr>
            <a:r>
              <a:t>VL 33</a:t>
            </a:r>
            <a:br/>
            <a:r>
              <a:t>then &lt;30</a:t>
            </a:r>
          </a:p>
        </p:txBody>
      </p:sp>
      <p:sp>
        <p:nvSpPr>
          <p:cNvPr id="10" name="Oval 9"/>
          <p:cNvSpPr/>
          <p:nvPr/>
        </p:nvSpPr>
        <p:spPr>
          <a:xfrm>
            <a:off x="3680460" y="3040380"/>
            <a:ext cx="320040" cy="320040"/>
          </a:xfrm>
          <a:prstGeom prst="ellipse">
            <a:avLst/>
          </a:prstGeom>
          <a:solidFill>
            <a:srgbClr val="E6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737360"/>
            <a:ext cx="1280160" cy="1005840"/>
          </a:xfrm>
          <a:prstGeom prst="rect">
            <a:avLst/>
          </a:prstGeom>
          <a:noFill/>
        </p:spPr>
        <p:txBody>
          <a:bodyPr wrap="square">
            <a:spAutoFit/>
          </a:bodyPr>
          <a:lstStyle/>
          <a:p>
            <a:pPr algn="ctr">
              <a:defRPr sz="1000" b="1" i="0">
                <a:solidFill>
                  <a:srgbClr val="FFFFFF"/>
                </a:solidFill>
                <a:latin typeface="Arial"/>
              </a:defRPr>
            </a:pPr>
            <a:r>
              <a:t>Dose 4-5</a:t>
            </a:r>
            <a:br/>
            <a:r>
              <a:t>(delayed)</a:t>
            </a:r>
          </a:p>
        </p:txBody>
      </p:sp>
      <p:sp>
        <p:nvSpPr>
          <p:cNvPr id="12" name="TextBox 11"/>
          <p:cNvSpPr txBox="1"/>
          <p:nvPr/>
        </p:nvSpPr>
        <p:spPr>
          <a:xfrm>
            <a:off x="3291840" y="3566160"/>
            <a:ext cx="1280160" cy="914400"/>
          </a:xfrm>
          <a:prstGeom prst="rect">
            <a:avLst/>
          </a:prstGeom>
          <a:noFill/>
        </p:spPr>
        <p:txBody>
          <a:bodyPr wrap="square">
            <a:spAutoFit/>
          </a:bodyPr>
          <a:lstStyle/>
          <a:p>
            <a:pPr algn="ctr">
              <a:defRPr sz="900" b="0" i="0">
                <a:solidFill>
                  <a:srgbClr val="BBBBBB"/>
                </a:solidFill>
                <a:latin typeface="Arial"/>
              </a:defRPr>
            </a:pPr>
            <a:r>
              <a:t>12+21d late</a:t>
            </a:r>
          </a:p>
        </p:txBody>
      </p:sp>
      <p:sp>
        <p:nvSpPr>
          <p:cNvPr id="13" name="Oval 12"/>
          <p:cNvSpPr/>
          <p:nvPr/>
        </p:nvSpPr>
        <p:spPr>
          <a:xfrm>
            <a:off x="5143500" y="3040380"/>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737360"/>
            <a:ext cx="1280160" cy="1005840"/>
          </a:xfrm>
          <a:prstGeom prst="rect">
            <a:avLst/>
          </a:prstGeom>
          <a:noFill/>
        </p:spPr>
        <p:txBody>
          <a:bodyPr wrap="square">
            <a:spAutoFit/>
          </a:bodyPr>
          <a:lstStyle/>
          <a:p>
            <a:pPr algn="ctr">
              <a:defRPr sz="1000" b="1" i="0">
                <a:solidFill>
                  <a:srgbClr val="FFFFFF"/>
                </a:solidFill>
                <a:latin typeface="Arial"/>
              </a:defRPr>
            </a:pPr>
            <a:r>
              <a:t>W0: Dose 6</a:t>
            </a:r>
            <a:br/>
            <a:r>
              <a:t>+ ADD LEN</a:t>
            </a:r>
          </a:p>
        </p:txBody>
      </p:sp>
      <p:sp>
        <p:nvSpPr>
          <p:cNvPr id="15" name="TextBox 14"/>
          <p:cNvSpPr txBox="1"/>
          <p:nvPr/>
        </p:nvSpPr>
        <p:spPr>
          <a:xfrm>
            <a:off x="4754880" y="3566160"/>
            <a:ext cx="1280160" cy="914400"/>
          </a:xfrm>
          <a:prstGeom prst="rect">
            <a:avLst/>
          </a:prstGeom>
          <a:noFill/>
        </p:spPr>
        <p:txBody>
          <a:bodyPr wrap="square">
            <a:spAutoFit/>
          </a:bodyPr>
          <a:lstStyle/>
          <a:p>
            <a:pPr algn="ctr">
              <a:defRPr sz="900" b="0" i="0">
                <a:solidFill>
                  <a:srgbClr val="BBBBBB"/>
                </a:solidFill>
                <a:latin typeface="Arial"/>
              </a:defRPr>
            </a:pPr>
            <a:r>
              <a:t>VL 37,464</a:t>
            </a:r>
          </a:p>
        </p:txBody>
      </p:sp>
      <p:sp>
        <p:nvSpPr>
          <p:cNvPr id="16" name="Oval 15"/>
          <p:cNvSpPr/>
          <p:nvPr/>
        </p:nvSpPr>
        <p:spPr>
          <a:xfrm>
            <a:off x="6972300" y="3040380"/>
            <a:ext cx="320040" cy="320040"/>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1737360"/>
            <a:ext cx="1280160" cy="1005840"/>
          </a:xfrm>
          <a:prstGeom prst="rect">
            <a:avLst/>
          </a:prstGeom>
          <a:noFill/>
        </p:spPr>
        <p:txBody>
          <a:bodyPr wrap="square">
            <a:spAutoFit/>
          </a:bodyPr>
          <a:lstStyle/>
          <a:p>
            <a:pPr algn="ctr">
              <a:defRPr sz="1000" b="1" i="0">
                <a:solidFill>
                  <a:srgbClr val="FFFFFF"/>
                </a:solidFill>
                <a:latin typeface="Arial"/>
              </a:defRPr>
            </a:pPr>
            <a:r>
              <a:t>Geno returns</a:t>
            </a:r>
            <a:br/>
            <a:r>
              <a:t>STOP CAB/RPV</a:t>
            </a:r>
          </a:p>
        </p:txBody>
      </p:sp>
      <p:sp>
        <p:nvSpPr>
          <p:cNvPr id="18" name="TextBox 17"/>
          <p:cNvSpPr txBox="1"/>
          <p:nvPr/>
        </p:nvSpPr>
        <p:spPr>
          <a:xfrm>
            <a:off x="6583680" y="3566160"/>
            <a:ext cx="1280160" cy="914400"/>
          </a:xfrm>
          <a:prstGeom prst="rect">
            <a:avLst/>
          </a:prstGeom>
          <a:noFill/>
        </p:spPr>
        <p:txBody>
          <a:bodyPr wrap="square">
            <a:spAutoFit/>
          </a:bodyPr>
          <a:lstStyle/>
          <a:p>
            <a:pPr algn="ctr">
              <a:defRPr sz="900" b="0" i="0">
                <a:solidFill>
                  <a:srgbClr val="BBBBBB"/>
                </a:solidFill>
                <a:latin typeface="Arial"/>
              </a:defRPr>
            </a:pPr>
            <a:r>
              <a:t>HIGH-LEVEL</a:t>
            </a:r>
            <a:br/>
            <a:r>
              <a:t>INSTI + NNRTI R</a:t>
            </a:r>
          </a:p>
        </p:txBody>
      </p:sp>
      <p:sp>
        <p:nvSpPr>
          <p:cNvPr id="19" name="Oval 18"/>
          <p:cNvSpPr/>
          <p:nvPr/>
        </p:nvSpPr>
        <p:spPr>
          <a:xfrm>
            <a:off x="8526780" y="3040380"/>
            <a:ext cx="320040" cy="320040"/>
          </a:xfrm>
          <a:prstGeom prst="ellipse">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1737360"/>
            <a:ext cx="1280160" cy="1005840"/>
          </a:xfrm>
          <a:prstGeom prst="rect">
            <a:avLst/>
          </a:prstGeom>
          <a:noFill/>
        </p:spPr>
        <p:txBody>
          <a:bodyPr wrap="square">
            <a:spAutoFit/>
          </a:bodyPr>
          <a:lstStyle/>
          <a:p>
            <a:pPr algn="ctr">
              <a:defRPr sz="1000" b="1" i="0">
                <a:solidFill>
                  <a:srgbClr val="FFFFFF"/>
                </a:solidFill>
                <a:latin typeface="Arial"/>
              </a:defRPr>
            </a:pPr>
            <a:r>
              <a:t>W38</a:t>
            </a:r>
            <a:br/>
            <a:r>
              <a:t>Returns</a:t>
            </a:r>
          </a:p>
        </p:txBody>
      </p:sp>
      <p:sp>
        <p:nvSpPr>
          <p:cNvPr id="21" name="TextBox 20"/>
          <p:cNvSpPr txBox="1"/>
          <p:nvPr/>
        </p:nvSpPr>
        <p:spPr>
          <a:xfrm>
            <a:off x="8138160" y="3566160"/>
            <a:ext cx="1280160" cy="914400"/>
          </a:xfrm>
          <a:prstGeom prst="rect">
            <a:avLst/>
          </a:prstGeom>
          <a:noFill/>
        </p:spPr>
        <p:txBody>
          <a:bodyPr wrap="square">
            <a:spAutoFit/>
          </a:bodyPr>
          <a:lstStyle/>
          <a:p>
            <a:pPr algn="ctr">
              <a:defRPr sz="900" b="0" i="0">
                <a:solidFill>
                  <a:srgbClr val="BBBBBB"/>
                </a:solidFill>
                <a:latin typeface="Arial"/>
              </a:defRPr>
            </a:pPr>
            <a:r>
              <a:t>VL &lt;30</a:t>
            </a:r>
          </a:p>
        </p:txBody>
      </p:sp>
      <p:sp>
        <p:nvSpPr>
          <p:cNvPr id="22" name="Oval 21"/>
          <p:cNvSpPr/>
          <p:nvPr/>
        </p:nvSpPr>
        <p:spPr>
          <a:xfrm>
            <a:off x="9715500" y="3040380"/>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1737360"/>
            <a:ext cx="1280160" cy="1005840"/>
          </a:xfrm>
          <a:prstGeom prst="rect">
            <a:avLst/>
          </a:prstGeom>
          <a:noFill/>
        </p:spPr>
        <p:txBody>
          <a:bodyPr wrap="square">
            <a:spAutoFit/>
          </a:bodyPr>
          <a:lstStyle/>
          <a:p>
            <a:pPr algn="ctr">
              <a:defRPr sz="1000" b="1" i="0">
                <a:solidFill>
                  <a:srgbClr val="FFFFFF"/>
                </a:solidFill>
                <a:latin typeface="Arial"/>
              </a:defRPr>
            </a:pPr>
            <a:r>
              <a:t>W42</a:t>
            </a:r>
            <a:br/>
            <a:r>
              <a:t>Restart all</a:t>
            </a:r>
          </a:p>
        </p:txBody>
      </p:sp>
      <p:sp>
        <p:nvSpPr>
          <p:cNvPr id="24" name="TextBox 23"/>
          <p:cNvSpPr txBox="1"/>
          <p:nvPr/>
        </p:nvSpPr>
        <p:spPr>
          <a:xfrm>
            <a:off x="9326880" y="3566160"/>
            <a:ext cx="1280160" cy="914400"/>
          </a:xfrm>
          <a:prstGeom prst="rect">
            <a:avLst/>
          </a:prstGeom>
          <a:noFill/>
        </p:spPr>
        <p:txBody>
          <a:bodyPr wrap="square">
            <a:spAutoFit/>
          </a:bodyPr>
          <a:lstStyle/>
          <a:p>
            <a:pPr algn="ctr">
              <a:defRPr sz="900" b="0" i="0">
                <a:solidFill>
                  <a:srgbClr val="BBBBBB"/>
                </a:solidFill>
                <a:latin typeface="Arial"/>
              </a:defRPr>
            </a:pPr>
            <a:r>
              <a:t>VL undetectable</a:t>
            </a:r>
          </a:p>
        </p:txBody>
      </p:sp>
      <p:sp>
        <p:nvSpPr>
          <p:cNvPr id="25" name="Oval 24"/>
          <p:cNvSpPr/>
          <p:nvPr/>
        </p:nvSpPr>
        <p:spPr>
          <a:xfrm>
            <a:off x="10812780" y="3040380"/>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0" y="1737360"/>
            <a:ext cx="1280160" cy="1005840"/>
          </a:xfrm>
          <a:prstGeom prst="rect">
            <a:avLst/>
          </a:prstGeom>
          <a:noFill/>
        </p:spPr>
        <p:txBody>
          <a:bodyPr wrap="square">
            <a:spAutoFit/>
          </a:bodyPr>
          <a:lstStyle/>
          <a:p>
            <a:pPr algn="ctr">
              <a:defRPr sz="1000" b="1" i="0">
                <a:solidFill>
                  <a:srgbClr val="FFFFFF"/>
                </a:solidFill>
                <a:latin typeface="Arial"/>
              </a:defRPr>
            </a:pPr>
            <a:r>
              <a:t>TODAY</a:t>
            </a:r>
            <a:br/>
            <a:r>
              <a:t>~195+ wks</a:t>
            </a:r>
          </a:p>
        </p:txBody>
      </p:sp>
      <p:sp>
        <p:nvSpPr>
          <p:cNvPr id="27" name="TextBox 26"/>
          <p:cNvSpPr txBox="1"/>
          <p:nvPr/>
        </p:nvSpPr>
        <p:spPr>
          <a:xfrm>
            <a:off x="10424160" y="3566160"/>
            <a:ext cx="1280160" cy="914400"/>
          </a:xfrm>
          <a:prstGeom prst="rect">
            <a:avLst/>
          </a:prstGeom>
          <a:noFill/>
        </p:spPr>
        <p:txBody>
          <a:bodyPr wrap="square">
            <a:spAutoFit/>
          </a:bodyPr>
          <a:lstStyle/>
          <a:p>
            <a:pPr algn="ctr">
              <a:defRPr sz="900" b="0" i="0">
                <a:solidFill>
                  <a:srgbClr val="BBBBBB"/>
                </a:solidFill>
                <a:latin typeface="Arial"/>
              </a:defRPr>
            </a:pPr>
            <a:r>
              <a:t>Suppressed</a:t>
            </a:r>
            <a:br/>
            <a:r>
              <a:t>CD4 554</a:t>
            </a:r>
          </a:p>
        </p:txBody>
      </p:sp>
      <p:sp>
        <p:nvSpPr>
          <p:cNvPr id="28" name="Rounded Rectangle 27"/>
          <p:cNvSpPr/>
          <p:nvPr/>
        </p:nvSpPr>
        <p:spPr>
          <a:xfrm>
            <a:off x="4114800" y="5029200"/>
            <a:ext cx="4114800"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333333"/>
                </a:solidFill>
                <a:latin typeface="Arial"/>
              </a:defRPr>
            </a:pPr>
            <a:r>
              <a:t>W0: Added LEN pre-genotype -- thought 2 active agents remained</a:t>
            </a:r>
          </a:p>
        </p:txBody>
      </p:sp>
      <p:sp>
        <p:nvSpPr>
          <p:cNvPr id="29" name="Rounded Rectangle 28"/>
          <p:cNvSpPr/>
          <p:nvPr/>
        </p:nvSpPr>
        <p:spPr>
          <a:xfrm>
            <a:off x="8412480" y="5029200"/>
            <a:ext cx="3474720"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333333"/>
                </a:solidFill>
                <a:latin typeface="Arial"/>
              </a:defRPr>
            </a:pPr>
            <a:r>
              <a:t>Patient refused oral ART -- effectively LEN monotherapy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Patient 2 -- Update &amp; Teaching Points</a:t>
            </a:r>
          </a:p>
        </p:txBody>
      </p:sp>
      <p:sp>
        <p:nvSpPr>
          <p:cNvPr id="3" name="TextBox 2"/>
          <p:cNvSpPr txBox="1"/>
          <p:nvPr/>
        </p:nvSpPr>
        <p:spPr>
          <a:xfrm>
            <a:off x="7772400" y="1188720"/>
            <a:ext cx="3657600" cy="1371600"/>
          </a:xfrm>
          <a:prstGeom prst="rect">
            <a:avLst/>
          </a:prstGeom>
          <a:noFill/>
        </p:spPr>
        <p:txBody>
          <a:bodyPr wrap="square">
            <a:spAutoFit/>
          </a:bodyPr>
          <a:lstStyle/>
          <a:p>
            <a:pPr algn="ctr">
              <a:defRPr sz="5400" b="1">
                <a:solidFill>
                  <a:srgbClr val="0095A8"/>
                </a:solidFill>
                <a:latin typeface="Garamond"/>
              </a:defRPr>
            </a:pPr>
            <a:r>
              <a:t>195+</a:t>
            </a:r>
          </a:p>
          <a:p>
            <a:pPr algn="ctr">
              <a:defRPr sz="1800" b="0">
                <a:solidFill>
                  <a:srgbClr val="FFFFFF"/>
                </a:solidFill>
                <a:latin typeface="Arial"/>
              </a:defRPr>
            </a:pPr>
            <a:r>
              <a:t>weeks on regimen</a:t>
            </a:r>
            <a:br/>
            <a:r>
              <a:t>continuously suppressed</a:t>
            </a:r>
          </a:p>
        </p:txBody>
      </p:sp>
      <p:sp>
        <p:nvSpPr>
          <p:cNvPr id="4" name="TextBox 3"/>
          <p:cNvSpPr txBox="1"/>
          <p:nvPr/>
        </p:nvSpPr>
        <p:spPr>
          <a:xfrm>
            <a:off x="731520" y="1463040"/>
            <a:ext cx="6583680" cy="4572000"/>
          </a:xfrm>
          <a:prstGeom prst="rect">
            <a:avLst/>
          </a:prstGeom>
          <a:noFill/>
        </p:spPr>
        <p:txBody>
          <a:bodyPr wrap="square">
            <a:spAutoFit/>
          </a:bodyPr>
          <a:lstStyle/>
          <a:p>
            <a:pPr>
              <a:spcAft>
                <a:spcPts val="600"/>
              </a:spcAft>
              <a:defRPr sz="1600" b="0">
                <a:solidFill>
                  <a:srgbClr val="FFFFFF"/>
                </a:solidFill>
                <a:latin typeface="Arial"/>
              </a:defRPr>
            </a:pPr>
            <a:r>
              <a:t>1. This is 1 patient. He may be an outlier. Do NOT interpret as endorsement of LEN monotherapy.</a:t>
            </a:r>
          </a:p>
          <a:p>
            <a:pPr>
              <a:spcAft>
                <a:spcPts val="600"/>
              </a:spcAft>
              <a:defRPr sz="1600" b="0">
                <a:solidFill>
                  <a:srgbClr val="FFFFFF"/>
                </a:solidFill>
                <a:latin typeface="Arial"/>
              </a:defRPr>
            </a:pPr>
          </a:p>
          <a:p>
            <a:pPr>
              <a:spcAft>
                <a:spcPts val="600"/>
              </a:spcAft>
              <a:defRPr sz="1600" b="0">
                <a:solidFill>
                  <a:srgbClr val="FFFFFF"/>
                </a:solidFill>
                <a:latin typeface="Arial"/>
              </a:defRPr>
            </a:pPr>
            <a:r>
              <a:t>2. Possible mechanism: LEN resistance mutations (e.g., M66I) confer very low viral fitness (~1.5% of wild-type replication). Resistance may evolve but with poor fitness.</a:t>
            </a:r>
          </a:p>
          <a:p>
            <a:pPr>
              <a:spcAft>
                <a:spcPts val="600"/>
              </a:spcAft>
              <a:defRPr sz="1600" b="0">
                <a:solidFill>
                  <a:srgbClr val="FFFFFF"/>
                </a:solidFill>
                <a:latin typeface="Arial"/>
              </a:defRPr>
            </a:pPr>
          </a:p>
          <a:p>
            <a:pPr>
              <a:spcAft>
                <a:spcPts val="600"/>
              </a:spcAft>
              <a:defRPr sz="1600" b="0">
                <a:solidFill>
                  <a:srgbClr val="FFFFFF"/>
                </a:solidFill>
                <a:latin typeface="Arial"/>
              </a:defRPr>
            </a:pPr>
            <a:r>
              <a:t>3. CAPELLA trial: 14 LEN resistance cases at 104 weeks; 7 re-suppressed after adherence counseling or OBR switch.</a:t>
            </a:r>
          </a:p>
          <a:p>
            <a:pPr>
              <a:spcAft>
                <a:spcPts val="600"/>
              </a:spcAft>
              <a:defRPr sz="1600" b="0">
                <a:solidFill>
                  <a:srgbClr val="FFFFFF"/>
                </a:solidFill>
                <a:latin typeface="Arial"/>
              </a:defRPr>
            </a:pPr>
          </a:p>
          <a:p>
            <a:pPr>
              <a:spcAft>
                <a:spcPts val="600"/>
              </a:spcAft>
              <a:defRPr sz="1600" b="0">
                <a:solidFill>
                  <a:srgbClr val="FFFFFF"/>
                </a:solidFill>
                <a:latin typeface="Arial"/>
              </a:defRPr>
            </a:pPr>
            <a:r>
              <a:t>4. Connects to Patient 1: LEN's long tail seems to protect INSTI class even in lapses.</a:t>
            </a:r>
          </a:p>
        </p:txBody>
      </p:sp>
      <p:sp>
        <p:nvSpPr>
          <p:cNvPr id="5" name="TextBox 4"/>
          <p:cNvSpPr txBox="1"/>
          <p:nvPr/>
        </p:nvSpPr>
        <p:spPr>
          <a:xfrm>
            <a:off x="731520" y="5486400"/>
            <a:ext cx="10515600" cy="731520"/>
          </a:xfrm>
          <a:prstGeom prst="rect">
            <a:avLst/>
          </a:prstGeom>
          <a:noFill/>
        </p:spPr>
        <p:txBody>
          <a:bodyPr wrap="square">
            <a:spAutoFit/>
          </a:bodyPr>
          <a:lstStyle/>
          <a:p>
            <a:pPr algn="l">
              <a:defRPr sz="1600" b="0" i="1">
                <a:solidFill>
                  <a:srgbClr val="BBBBBB"/>
                </a:solidFill>
                <a:latin typeface="Arial"/>
              </a:defRPr>
            </a:pPr>
            <a:r>
              <a:t>"I don't fully understand why this regimen is holding. If anyone wants to discuss the pharmacology after, I'd genuinely welcome that."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95A8"/>
        </a:solidFill>
        <a:effectLst/>
      </p:bgPr>
    </p:bg>
    <p:spTree>
      <p:nvGrpSpPr>
        <p:cNvPr id="1" name=""/>
        <p:cNvGrpSpPr/>
        <p:nvPr/>
      </p:nvGrpSpPr>
      <p:grpSpPr/>
      <p:sp>
        <p:nvSpPr>
          <p:cNvPr id="2" name="TextBox 1"/>
          <p:cNvSpPr txBox="1"/>
          <p:nvPr/>
        </p:nvSpPr>
        <p:spPr>
          <a:xfrm>
            <a:off x="914400" y="2011680"/>
            <a:ext cx="10332720" cy="1371600"/>
          </a:xfrm>
          <a:prstGeom prst="rect">
            <a:avLst/>
          </a:prstGeom>
          <a:noFill/>
        </p:spPr>
        <p:txBody>
          <a:bodyPr wrap="square">
            <a:spAutoFit/>
          </a:bodyPr>
          <a:lstStyle/>
          <a:p>
            <a:pPr algn="ctr">
              <a:defRPr sz="4400" b="1" i="0">
                <a:solidFill>
                  <a:srgbClr val="FFFFFF"/>
                </a:solidFill>
                <a:latin typeface="Garamond"/>
              </a:defRPr>
            </a:pPr>
            <a:r>
              <a:t>Patient 3</a:t>
            </a:r>
          </a:p>
        </p:txBody>
      </p:sp>
      <p:sp>
        <p:nvSpPr>
          <p:cNvPr id="3" name="TextBox 2"/>
          <p:cNvSpPr txBox="1"/>
          <p:nvPr/>
        </p:nvSpPr>
        <p:spPr>
          <a:xfrm>
            <a:off x="914400" y="3474720"/>
            <a:ext cx="10332720" cy="914400"/>
          </a:xfrm>
          <a:prstGeom prst="rect">
            <a:avLst/>
          </a:prstGeom>
          <a:noFill/>
        </p:spPr>
        <p:txBody>
          <a:bodyPr wrap="square">
            <a:spAutoFit/>
          </a:bodyPr>
          <a:lstStyle/>
          <a:p>
            <a:pPr algn="ctr">
              <a:defRPr sz="2400" b="0" i="0">
                <a:solidFill>
                  <a:srgbClr val="FFFFFF"/>
                </a:solidFill>
                <a:latin typeface="Arial"/>
              </a:defRPr>
            </a:pPr>
            <a:r>
              <a:t>Not Our Patient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Patient 3 -- Background</a:t>
            </a:r>
          </a:p>
        </p:txBody>
      </p:sp>
      <p:sp>
        <p:nvSpPr>
          <p:cNvPr id="3" name="TextBox 2"/>
          <p:cNvSpPr txBox="1"/>
          <p:nvPr/>
        </p:nvSpPr>
        <p:spPr>
          <a:xfrm>
            <a:off x="640080" y="1280160"/>
            <a:ext cx="5029200" cy="548640"/>
          </a:xfrm>
          <a:prstGeom prst="rect">
            <a:avLst/>
          </a:prstGeom>
          <a:noFill/>
        </p:spPr>
        <p:txBody>
          <a:bodyPr wrap="square">
            <a:spAutoFit/>
          </a:bodyPr>
          <a:lstStyle/>
          <a:p>
            <a:pPr algn="l">
              <a:defRPr sz="2200" b="1" i="0">
                <a:solidFill>
                  <a:srgbClr val="0095A8"/>
                </a:solidFill>
                <a:latin typeface="Arial"/>
              </a:defRPr>
            </a:pPr>
            <a:r>
              <a:t>Demographics &amp; History</a:t>
            </a:r>
          </a:p>
        </p:txBody>
      </p:sp>
      <p:sp>
        <p:nvSpPr>
          <p:cNvPr id="4" name="TextBox 3"/>
          <p:cNvSpPr txBox="1"/>
          <p:nvPr/>
        </p:nvSpPr>
        <p:spPr>
          <a:xfrm>
            <a:off x="640080" y="1828800"/>
            <a:ext cx="5029200" cy="4572000"/>
          </a:xfrm>
          <a:prstGeom prst="rect">
            <a:avLst/>
          </a:prstGeom>
          <a:noFill/>
        </p:spPr>
        <p:txBody>
          <a:bodyPr wrap="square">
            <a:spAutoFit/>
          </a:bodyPr>
          <a:lstStyle/>
          <a:p>
            <a:pPr>
              <a:spcAft>
                <a:spcPts val="600"/>
              </a:spcAft>
              <a:defRPr sz="1800" b="0">
                <a:solidFill>
                  <a:srgbClr val="FFFFFF"/>
                </a:solidFill>
                <a:latin typeface="Arial"/>
              </a:defRPr>
            </a:pPr>
            <a:r>
              <a:t>Street homeless in SF (recently from another county ~4 hrs away)</a:t>
            </a:r>
          </a:p>
          <a:p>
            <a:pPr>
              <a:spcAft>
                <a:spcPts val="600"/>
              </a:spcAft>
              <a:defRPr sz="1800" b="0">
                <a:solidFill>
                  <a:srgbClr val="FFFFFF"/>
                </a:solidFill>
                <a:latin typeface="Arial"/>
              </a:defRPr>
            </a:pPr>
            <a:r>
              <a:t>Methamphetamine use disorder, bipolar 2</a:t>
            </a:r>
          </a:p>
          <a:p>
            <a:pPr>
              <a:spcAft>
                <a:spcPts val="600"/>
              </a:spcAft>
              <a:defRPr sz="1800" b="0">
                <a:solidFill>
                  <a:srgbClr val="FFFFFF"/>
                </a:solidFill>
                <a:latin typeface="Arial"/>
              </a:defRPr>
            </a:pPr>
            <a:r>
              <a:t>History of DVTs/PE (not on anticoagulation), recurrent SSTI</a:t>
            </a:r>
          </a:p>
          <a:p>
            <a:pPr>
              <a:spcAft>
                <a:spcPts val="600"/>
              </a:spcAft>
              <a:defRPr sz="1800" b="0">
                <a:solidFill>
                  <a:srgbClr val="FFFFFF"/>
                </a:solidFill>
                <a:latin typeface="Arial"/>
              </a:defRPr>
            </a:pPr>
            <a:r>
              <a:t>Started CAB/RPV q8-weeks at out-of-county clinic 8 months ago</a:t>
            </a:r>
          </a:p>
          <a:p>
            <a:pPr>
              <a:spcAft>
                <a:spcPts val="600"/>
              </a:spcAft>
              <a:defRPr sz="1800" b="0">
                <a:solidFill>
                  <a:srgbClr val="FFFFFF"/>
                </a:solidFill>
                <a:latin typeface="Arial"/>
              </a:defRPr>
            </a:pPr>
            <a:r>
              <a:t>On time for ALL injections at home clinic until recently</a:t>
            </a:r>
          </a:p>
        </p:txBody>
      </p:sp>
      <p:sp>
        <p:nvSpPr>
          <p:cNvPr id="5" name="TextBox 4"/>
          <p:cNvSpPr txBox="1"/>
          <p:nvPr/>
        </p:nvSpPr>
        <p:spPr>
          <a:xfrm>
            <a:off x="6217920" y="1280160"/>
            <a:ext cx="5303520" cy="548640"/>
          </a:xfrm>
          <a:prstGeom prst="rect">
            <a:avLst/>
          </a:prstGeom>
          <a:noFill/>
        </p:spPr>
        <p:txBody>
          <a:bodyPr wrap="square">
            <a:spAutoFit/>
          </a:bodyPr>
          <a:lstStyle/>
          <a:p>
            <a:pPr algn="l">
              <a:defRPr sz="2200" b="1" i="0">
                <a:solidFill>
                  <a:srgbClr val="0095A8"/>
                </a:solidFill>
                <a:latin typeface="Arial"/>
              </a:defRPr>
            </a:pPr>
            <a:r>
              <a:t>Recent Events</a:t>
            </a:r>
          </a:p>
        </p:txBody>
      </p:sp>
      <p:sp>
        <p:nvSpPr>
          <p:cNvPr id="6" name="TextBox 5"/>
          <p:cNvSpPr txBox="1"/>
          <p:nvPr/>
        </p:nvSpPr>
        <p:spPr>
          <a:xfrm>
            <a:off x="6217920" y="1828800"/>
            <a:ext cx="5303520" cy="4572000"/>
          </a:xfrm>
          <a:prstGeom prst="rect">
            <a:avLst/>
          </a:prstGeom>
          <a:noFill/>
        </p:spPr>
        <p:txBody>
          <a:bodyPr wrap="square">
            <a:spAutoFit/>
          </a:bodyPr>
          <a:lstStyle/>
          <a:p>
            <a:pPr>
              <a:spcAft>
                <a:spcPts val="600"/>
              </a:spcAft>
              <a:defRPr sz="1800" b="0">
                <a:solidFill>
                  <a:srgbClr val="FFFFFF"/>
                </a:solidFill>
                <a:latin typeface="Arial"/>
              </a:defRPr>
            </a:pPr>
            <a:r>
              <a:t>Admitted ZSFG for SSTI, IV antibiotics</a:t>
            </a:r>
          </a:p>
          <a:p>
            <a:pPr>
              <a:spcAft>
                <a:spcPts val="600"/>
              </a:spcAft>
              <a:defRPr sz="1800" b="0">
                <a:solidFill>
                  <a:srgbClr val="FFFFFF"/>
                </a:solidFill>
                <a:latin typeface="Arial"/>
              </a:defRPr>
            </a:pPr>
            <a:r>
              <a:t>Hospital tried to give Cabenuva -- couldn't confirm last date</a:t>
            </a:r>
          </a:p>
          <a:p>
            <a:pPr>
              <a:spcAft>
                <a:spcPts val="600"/>
              </a:spcAft>
              <a:defRPr sz="1800" b="0">
                <a:solidFill>
                  <a:srgbClr val="FFFFFF"/>
                </a:solidFill>
                <a:latin typeface="Arial"/>
              </a:defRPr>
            </a:pPr>
            <a:r>
              <a:t>Patient left AMA before dose given</a:t>
            </a:r>
          </a:p>
          <a:p>
            <a:pPr>
              <a:spcAft>
                <a:spcPts val="600"/>
              </a:spcAft>
              <a:defRPr sz="1800" b="0">
                <a:solidFill>
                  <a:srgbClr val="FFFFFF"/>
                </a:solidFill>
                <a:latin typeface="Arial"/>
              </a:defRPr>
            </a:pPr>
            <a:r>
              <a:t>Labs during admission: VL undetectable, CD4 670</a:t>
            </a:r>
          </a:p>
          <a:p>
            <a:pPr>
              <a:spcAft>
                <a:spcPts val="600"/>
              </a:spcAft>
              <a:defRPr sz="1800" b="0">
                <a:solidFill>
                  <a:srgbClr val="FFFFFF"/>
                </a:solidFill>
                <a:latin typeface="Arial"/>
              </a:defRPr>
            </a:pPr>
          </a:p>
          <a:p>
            <a:pPr>
              <a:spcAft>
                <a:spcPts val="600"/>
              </a:spcAft>
              <a:defRPr sz="1800" b="0">
                <a:solidFill>
                  <a:srgbClr val="FFFFFF"/>
                </a:solidFill>
                <a:latin typeface="Arial"/>
              </a:defRPr>
            </a:pPr>
            <a:r>
              <a:t>Presents to MXM ~2 wks after discharge for wound eval</a:t>
            </a:r>
          </a:p>
          <a:p>
            <a:pPr>
              <a:spcAft>
                <a:spcPts val="600"/>
              </a:spcAft>
              <a:defRPr sz="1800" b="0">
                <a:solidFill>
                  <a:srgbClr val="FFFFFF"/>
                </a:solidFill>
                <a:latin typeface="Arial"/>
              </a:defRPr>
            </a:pPr>
            <a:r>
              <a:t>NOT for HIV care</a:t>
            </a:r>
          </a:p>
          <a:p>
            <a:pPr>
              <a:spcAft>
                <a:spcPts val="600"/>
              </a:spcAft>
              <a:defRPr sz="1800" b="0">
                <a:solidFill>
                  <a:srgbClr val="FFFFFF"/>
                </a:solidFill>
                <a:latin typeface="Arial"/>
              </a:defRPr>
            </a:pPr>
            <a:r>
              <a:t>Last injection: 10 weeks ago (2 weeks overdue)</a:t>
            </a:r>
          </a:p>
          <a:p>
            <a:pPr>
              <a:spcAft>
                <a:spcPts val="600"/>
              </a:spcAft>
              <a:defRPr sz="1800" b="0">
                <a:solidFill>
                  <a:srgbClr val="FFFFFF"/>
                </a:solidFill>
                <a:latin typeface="Arial"/>
              </a:defRPr>
            </a:pPr>
            <a:r>
              <a:t>Declines labs, oral ART, returning to home county</a:t>
            </a:r>
          </a:p>
          <a:p>
            <a:pPr>
              <a:spcAft>
                <a:spcPts val="600"/>
              </a:spcAft>
              <a:defRPr sz="1800" b="0">
                <a:solidFill>
                  <a:srgbClr val="FFFFFF"/>
                </a:solidFill>
                <a:latin typeface="Arial"/>
              </a:defRPr>
            </a:pPr>
            <a:r>
              <a:t>Open to receiving LA-ART today -- same-day only</a:t>
            </a:r>
          </a:p>
        </p:txBody>
      </p:sp>
      <p:sp>
        <p:nvSpPr>
          <p:cNvPr id="7" name="Rounded Rectangle 6"/>
          <p:cNvSpPr/>
          <p:nvPr/>
        </p:nvSpPr>
        <p:spPr>
          <a:xfrm>
            <a:off x="3200400" y="5486400"/>
            <a:ext cx="5760720" cy="64008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3333"/>
                </a:solidFill>
                <a:latin typeface="Arial"/>
              </a:defRPr>
            </a:pPr>
            <a:r>
              <a:t>NOT our patient  |  10 weeks since last dose  |  Declines everything except same-day injection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spAutoFit/>
          </a:bodyPr>
          <a:lstStyle/>
          <a:p>
            <a:pPr algn="l">
              <a:defRPr sz="2800" b="1" i="0">
                <a:solidFill>
                  <a:srgbClr val="FFFFFF"/>
                </a:solidFill>
                <a:latin typeface="Arial"/>
              </a:defRPr>
            </a:pPr>
            <a:r>
              <a:t>Poll Everywhere</a:t>
            </a:r>
          </a:p>
        </p:txBody>
      </p:sp>
      <p:sp>
        <p:nvSpPr>
          <p:cNvPr id="4" name="TextBox 3"/>
          <p:cNvSpPr txBox="1"/>
          <p:nvPr/>
        </p:nvSpPr>
        <p:spPr>
          <a:xfrm>
            <a:off x="731520" y="1463040"/>
            <a:ext cx="10515600" cy="1097280"/>
          </a:xfrm>
          <a:prstGeom prst="rect">
            <a:avLst/>
          </a:prstGeom>
          <a:noFill/>
        </p:spPr>
        <p:txBody>
          <a:bodyPr wrap="square">
            <a:spAutoFit/>
          </a:bodyPr>
          <a:lstStyle/>
          <a:p>
            <a:pPr algn="l">
              <a:defRPr sz="2800" b="1" i="0">
                <a:solidFill>
                  <a:srgbClr val="1B2A4A"/>
                </a:solidFill>
                <a:latin typeface="Garamond"/>
              </a:defRPr>
            </a:pPr>
            <a:r>
              <a:t>Recognizing he will not accept oral ART or labs -- what do you do?</a:t>
            </a:r>
          </a:p>
        </p:txBody>
      </p:sp>
      <p:sp>
        <p:nvSpPr>
          <p:cNvPr id="5" name="TextBox 4"/>
          <p:cNvSpPr txBox="1"/>
          <p:nvPr/>
        </p:nvSpPr>
        <p:spPr>
          <a:xfrm>
            <a:off x="1097280" y="2743200"/>
            <a:ext cx="9601200" cy="502920"/>
          </a:xfrm>
          <a:prstGeom prst="rect">
            <a:avLst/>
          </a:prstGeom>
          <a:noFill/>
        </p:spPr>
        <p:txBody>
          <a:bodyPr wrap="square">
            <a:spAutoFit/>
          </a:bodyPr>
          <a:lstStyle/>
          <a:p>
            <a:pPr algn="l">
              <a:defRPr sz="2000" b="0" i="0">
                <a:solidFill>
                  <a:srgbClr val="333333"/>
                </a:solidFill>
                <a:latin typeface="Arial"/>
              </a:defRPr>
            </a:pPr>
            <a:r>
              <a:t>A: Order and administer Cabenuva today without labs</a:t>
            </a:r>
          </a:p>
        </p:txBody>
      </p:sp>
      <p:sp>
        <p:nvSpPr>
          <p:cNvPr id="6" name="TextBox 5"/>
          <p:cNvSpPr txBox="1"/>
          <p:nvPr/>
        </p:nvSpPr>
        <p:spPr>
          <a:xfrm>
            <a:off x="1097280" y="3383280"/>
            <a:ext cx="9601200" cy="502920"/>
          </a:xfrm>
          <a:prstGeom prst="rect">
            <a:avLst/>
          </a:prstGeom>
          <a:noFill/>
        </p:spPr>
        <p:txBody>
          <a:bodyPr wrap="square">
            <a:spAutoFit/>
          </a:bodyPr>
          <a:lstStyle/>
          <a:p>
            <a:pPr algn="l">
              <a:defRPr sz="2000" b="0" i="0">
                <a:solidFill>
                  <a:srgbClr val="333333"/>
                </a:solidFill>
                <a:latin typeface="Arial"/>
              </a:defRPr>
            </a:pPr>
            <a:r>
              <a:t>B: Nothing -- not your patient, send to home county PCP</a:t>
            </a:r>
          </a:p>
        </p:txBody>
      </p:sp>
      <p:sp>
        <p:nvSpPr>
          <p:cNvPr id="7" name="TextBox 6"/>
          <p:cNvSpPr txBox="1"/>
          <p:nvPr/>
        </p:nvSpPr>
        <p:spPr>
          <a:xfrm>
            <a:off x="1097280" y="4023360"/>
            <a:ext cx="9601200" cy="502920"/>
          </a:xfrm>
          <a:prstGeom prst="rect">
            <a:avLst/>
          </a:prstGeom>
          <a:noFill/>
        </p:spPr>
        <p:txBody>
          <a:bodyPr wrap="square">
            <a:spAutoFit/>
          </a:bodyPr>
          <a:lstStyle/>
          <a:p>
            <a:pPr algn="l">
              <a:defRPr sz="2000" b="0" i="0">
                <a:solidFill>
                  <a:srgbClr val="333333"/>
                </a:solidFill>
                <a:latin typeface="Arial"/>
              </a:defRPr>
            </a:pPr>
            <a:r>
              <a:t>C: Help him get a phone and encourage return when less activated</a:t>
            </a:r>
          </a:p>
        </p:txBody>
      </p:sp>
      <p:sp>
        <p:nvSpPr>
          <p:cNvPr id="8" name="TextBox 7"/>
          <p:cNvSpPr txBox="1"/>
          <p:nvPr/>
        </p:nvSpPr>
        <p:spPr>
          <a:xfrm>
            <a:off x="1097280" y="4663440"/>
            <a:ext cx="9601200" cy="502920"/>
          </a:xfrm>
          <a:prstGeom prst="rect">
            <a:avLst/>
          </a:prstGeom>
          <a:noFill/>
        </p:spPr>
        <p:txBody>
          <a:bodyPr wrap="square">
            <a:spAutoFit/>
          </a:bodyPr>
          <a:lstStyle/>
          <a:p>
            <a:pPr algn="l">
              <a:defRPr sz="2000" b="0" i="0">
                <a:solidFill>
                  <a:srgbClr val="333333"/>
                </a:solidFill>
                <a:latin typeface="Arial"/>
              </a:defRPr>
            </a:pPr>
            <a:r>
              <a:t>D: Give him an oral ART sample anyway</a:t>
            </a:r>
          </a:p>
        </p:txBody>
      </p:sp>
      <p:sp>
        <p:nvSpPr>
          <p:cNvPr id="9" name="TextBox 8"/>
          <p:cNvSpPr txBox="1"/>
          <p:nvPr/>
        </p:nvSpPr>
        <p:spPr>
          <a:xfrm>
            <a:off x="1097280" y="5303520"/>
            <a:ext cx="9601200" cy="502920"/>
          </a:xfrm>
          <a:prstGeom prst="rect">
            <a:avLst/>
          </a:prstGeom>
          <a:noFill/>
        </p:spPr>
        <p:txBody>
          <a:bodyPr wrap="square">
            <a:spAutoFit/>
          </a:bodyPr>
          <a:lstStyle/>
          <a:p>
            <a:pPr algn="l">
              <a:defRPr sz="2000" b="0" i="0">
                <a:solidFill>
                  <a:srgbClr val="333333"/>
                </a:solidFill>
                <a:latin typeface="Arial"/>
              </a:defRPr>
            </a:pPr>
            <a:r>
              <a:t>E: Another reasonable approach? (open to audience)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Patient 3 -- Resolution</a:t>
            </a:r>
          </a:p>
        </p:txBody>
      </p:sp>
      <p:sp>
        <p:nvSpPr>
          <p:cNvPr id="3" name="TextBox 2"/>
          <p:cNvSpPr txBox="1"/>
          <p:nvPr/>
        </p:nvSpPr>
        <p:spPr>
          <a:xfrm>
            <a:off x="731520" y="1280160"/>
            <a:ext cx="5029200" cy="457200"/>
          </a:xfrm>
          <a:prstGeom prst="rect">
            <a:avLst/>
          </a:prstGeom>
          <a:noFill/>
        </p:spPr>
        <p:txBody>
          <a:bodyPr wrap="square">
            <a:spAutoFit/>
          </a:bodyPr>
          <a:lstStyle/>
          <a:p>
            <a:pPr algn="l">
              <a:defRPr sz="2200" b="1" i="0">
                <a:solidFill>
                  <a:srgbClr val="0095A8"/>
                </a:solidFill>
                <a:latin typeface="Arial"/>
              </a:defRPr>
            </a:pPr>
            <a:r>
              <a:t>Visit 1</a:t>
            </a:r>
          </a:p>
        </p:txBody>
      </p:sp>
      <p:sp>
        <p:nvSpPr>
          <p:cNvPr id="4" name="Rounded Rectangle 3"/>
          <p:cNvSpPr/>
          <p:nvPr/>
        </p:nvSpPr>
        <p:spPr>
          <a:xfrm>
            <a:off x="731520" y="1737360"/>
            <a:ext cx="5029200" cy="548640"/>
          </a:xfrm>
          <a:prstGeom prst="round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Arial"/>
              </a:defRPr>
            </a:pPr>
            <a:r>
              <a:t>Answer: C -- sent him away with phone resources and a deal</a:t>
            </a:r>
          </a:p>
        </p:txBody>
      </p:sp>
      <p:sp>
        <p:nvSpPr>
          <p:cNvPr id="5" name="TextBox 4"/>
          <p:cNvSpPr txBox="1"/>
          <p:nvPr/>
        </p:nvSpPr>
        <p:spPr>
          <a:xfrm>
            <a:off x="731520" y="2468880"/>
            <a:ext cx="5029200" cy="2286000"/>
          </a:xfrm>
          <a:prstGeom prst="rect">
            <a:avLst/>
          </a:prstGeom>
          <a:noFill/>
        </p:spPr>
        <p:txBody>
          <a:bodyPr wrap="square">
            <a:spAutoFit/>
          </a:bodyPr>
          <a:lstStyle/>
          <a:p>
            <a:pPr>
              <a:spcAft>
                <a:spcPts val="600"/>
              </a:spcAft>
              <a:defRPr sz="1500" b="0">
                <a:solidFill>
                  <a:srgbClr val="FFFFFF"/>
                </a:solidFill>
                <a:latin typeface="Arial"/>
              </a:defRPr>
            </a:pPr>
            <a:r>
              <a:t>A: Only 2 weeks past due, case for acting is real</a:t>
            </a:r>
          </a:p>
          <a:p>
            <a:pPr>
              <a:spcAft>
                <a:spcPts val="600"/>
              </a:spcAft>
              <a:defRPr sz="1500" b="0">
                <a:solidFill>
                  <a:srgbClr val="FFFFFF"/>
                </a:solidFill>
                <a:latin typeface="Arial"/>
              </a:defRPr>
            </a:pPr>
            <a:r>
              <a:t>B: No car, no money, no intention to return = abandonment</a:t>
            </a:r>
          </a:p>
          <a:p>
            <a:pPr>
              <a:spcAft>
                <a:spcPts val="600"/>
              </a:spcAft>
              <a:defRPr sz="1500" b="0">
                <a:solidFill>
                  <a:srgbClr val="FFFFFF"/>
                </a:solidFill>
                <a:latin typeface="Arial"/>
              </a:defRPr>
            </a:pPr>
            <a:r>
              <a:t>C: Buys time without abandoning or making a risky call</a:t>
            </a:r>
          </a:p>
          <a:p>
            <a:pPr>
              <a:spcAft>
                <a:spcPts val="600"/>
              </a:spcAft>
              <a:defRPr sz="1500" b="0">
                <a:solidFill>
                  <a:srgbClr val="FFFFFF"/>
                </a:solidFill>
                <a:latin typeface="Arial"/>
              </a:defRPr>
            </a:pPr>
            <a:r>
              <a:t>D: He explicitly declined; pressing risks losing him</a:t>
            </a:r>
          </a:p>
        </p:txBody>
      </p:sp>
      <p:sp>
        <p:nvSpPr>
          <p:cNvPr id="6" name="TextBox 5"/>
          <p:cNvSpPr txBox="1"/>
          <p:nvPr/>
        </p:nvSpPr>
        <p:spPr>
          <a:xfrm>
            <a:off x="6217920" y="1280160"/>
            <a:ext cx="5303520" cy="457200"/>
          </a:xfrm>
          <a:prstGeom prst="rect">
            <a:avLst/>
          </a:prstGeom>
          <a:noFill/>
        </p:spPr>
        <p:txBody>
          <a:bodyPr wrap="square">
            <a:spAutoFit/>
          </a:bodyPr>
          <a:lstStyle/>
          <a:p>
            <a:pPr algn="l">
              <a:defRPr sz="2200" b="1" i="0">
                <a:solidFill>
                  <a:srgbClr val="0095A8"/>
                </a:solidFill>
                <a:latin typeface="Arial"/>
              </a:defRPr>
            </a:pPr>
            <a:r>
              <a:t>Visit 2 (1 week later -- now 22 days past due)</a:t>
            </a:r>
          </a:p>
        </p:txBody>
      </p:sp>
      <p:sp>
        <p:nvSpPr>
          <p:cNvPr id="7" name="TextBox 6"/>
          <p:cNvSpPr txBox="1"/>
          <p:nvPr/>
        </p:nvSpPr>
        <p:spPr>
          <a:xfrm>
            <a:off x="6217920" y="1920240"/>
            <a:ext cx="5303520" cy="2743200"/>
          </a:xfrm>
          <a:prstGeom prst="rect">
            <a:avLst/>
          </a:prstGeom>
          <a:noFill/>
        </p:spPr>
        <p:txBody>
          <a:bodyPr wrap="square">
            <a:spAutoFit/>
          </a:bodyPr>
          <a:lstStyle/>
          <a:p>
            <a:pPr>
              <a:spcAft>
                <a:spcPts val="600"/>
              </a:spcAft>
              <a:defRPr sz="1600" b="0">
                <a:solidFill>
                  <a:srgbClr val="FFFFFF"/>
                </a:solidFill>
                <a:latin typeface="Arial"/>
              </a:defRPr>
            </a:pPr>
            <a:r>
              <a:t>Returns calmer, still no home county access</a:t>
            </a:r>
          </a:p>
          <a:p>
            <a:pPr>
              <a:spcAft>
                <a:spcPts val="600"/>
              </a:spcAft>
              <a:defRPr sz="1600" b="0">
                <a:solidFill>
                  <a:srgbClr val="FFFFFF"/>
                </a:solidFill>
                <a:latin typeface="Arial"/>
              </a:defRPr>
            </a:pPr>
            <a:r>
              <a:t>Agrees to labs IF same-day injection guaranteed</a:t>
            </a:r>
          </a:p>
          <a:p>
            <a:pPr>
              <a:spcAft>
                <a:spcPts val="600"/>
              </a:spcAft>
              <a:defRPr sz="1600" b="0">
                <a:solidFill>
                  <a:srgbClr val="FFFFFF"/>
                </a:solidFill>
                <a:latin typeface="Arial"/>
              </a:defRPr>
            </a:pPr>
            <a:r>
              <a:t>Used 1 of 2 emergency Cabenuva doses (403B program)</a:t>
            </a:r>
          </a:p>
          <a:p>
            <a:pPr>
              <a:spcAft>
                <a:spcPts val="600"/>
              </a:spcAft>
              <a:defRPr sz="1600" b="0">
                <a:solidFill>
                  <a:srgbClr val="FFFFFF"/>
                </a:solidFill>
                <a:latin typeface="Arial"/>
              </a:defRPr>
            </a:pPr>
            <a:r>
              <a:t>Labs drawn simultaneously</a:t>
            </a:r>
          </a:p>
          <a:p>
            <a:pPr>
              <a:spcAft>
                <a:spcPts val="600"/>
              </a:spcAft>
              <a:defRPr sz="1600" b="0">
                <a:solidFill>
                  <a:srgbClr val="FFFFFF"/>
                </a:solidFill>
                <a:latin typeface="Arial"/>
              </a:defRPr>
            </a:pPr>
            <a:r>
              <a:t>Told him: return in 1-2 days, must establish formal care</a:t>
            </a:r>
          </a:p>
        </p:txBody>
      </p:sp>
      <p:sp>
        <p:nvSpPr>
          <p:cNvPr id="8" name="TextBox 7"/>
          <p:cNvSpPr txBox="1"/>
          <p:nvPr/>
        </p:nvSpPr>
        <p:spPr>
          <a:xfrm>
            <a:off x="2286000" y="5303520"/>
            <a:ext cx="7772400" cy="914400"/>
          </a:xfrm>
          <a:prstGeom prst="rect">
            <a:avLst/>
          </a:prstGeom>
          <a:noFill/>
        </p:spPr>
        <p:txBody>
          <a:bodyPr wrap="square">
            <a:spAutoFit/>
          </a:bodyPr>
          <a:lstStyle/>
          <a:p>
            <a:pPr algn="ctr">
              <a:defRPr sz="2600" b="0" i="1">
                <a:solidFill>
                  <a:srgbClr val="0095A8"/>
                </a:solidFill>
                <a:latin typeface="Garamond"/>
              </a:defRPr>
            </a:pPr>
            <a:r>
              <a:t>"I still don't know if this was the right call. Ask me next year."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95A8"/>
        </a:solidFill>
        <a:effectLst/>
      </p:bgPr>
    </p:bg>
    <p:spTree>
      <p:nvGrpSpPr>
        <p:cNvPr id="1" name=""/>
        <p:cNvGrpSpPr/>
        <p:nvPr/>
      </p:nvGrpSpPr>
      <p:grpSpPr/>
      <p:sp>
        <p:nvSpPr>
          <p:cNvPr id="2" name="TextBox 1"/>
          <p:cNvSpPr txBox="1"/>
          <p:nvPr/>
        </p:nvSpPr>
        <p:spPr>
          <a:xfrm>
            <a:off x="914400" y="2011680"/>
            <a:ext cx="10332720" cy="1371600"/>
          </a:xfrm>
          <a:prstGeom prst="rect">
            <a:avLst/>
          </a:prstGeom>
          <a:noFill/>
        </p:spPr>
        <p:txBody>
          <a:bodyPr wrap="square">
            <a:spAutoFit/>
          </a:bodyPr>
          <a:lstStyle/>
          <a:p>
            <a:pPr algn="ctr">
              <a:defRPr sz="4400" b="1" i="0">
                <a:solidFill>
                  <a:srgbClr val="FFFFFF"/>
                </a:solidFill>
                <a:latin typeface="Garamond"/>
              </a:defRPr>
            </a:pPr>
            <a:r>
              <a:t>Patient 4</a:t>
            </a:r>
          </a:p>
        </p:txBody>
      </p:sp>
      <p:sp>
        <p:nvSpPr>
          <p:cNvPr id="3" name="TextBox 2"/>
          <p:cNvSpPr txBox="1"/>
          <p:nvPr/>
        </p:nvSpPr>
        <p:spPr>
          <a:xfrm>
            <a:off x="914400" y="3474720"/>
            <a:ext cx="10332720" cy="914400"/>
          </a:xfrm>
          <a:prstGeom prst="rect">
            <a:avLst/>
          </a:prstGeom>
          <a:noFill/>
        </p:spPr>
        <p:txBody>
          <a:bodyPr wrap="square">
            <a:spAutoFit/>
          </a:bodyPr>
          <a:lstStyle/>
          <a:p>
            <a:pPr algn="ctr">
              <a:defRPr sz="2400" b="0" i="0">
                <a:solidFill>
                  <a:srgbClr val="FFFFFF"/>
                </a:solidFill>
                <a:latin typeface="Arial"/>
              </a:defRPr>
            </a:pPr>
            <a:r>
              <a:t>AIDS, Pericarditis, and IRIS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FFFFFF"/>
                </a:solidFill>
                <a:latin typeface="Garamond"/>
              </a:defRPr>
            </a:pPr>
            <a:r>
              <a:t>Patient 4 -- Background</a:t>
            </a:r>
          </a:p>
        </p:txBody>
      </p:sp>
      <p:sp>
        <p:nvSpPr>
          <p:cNvPr id="3" name="TextBox 2"/>
          <p:cNvSpPr txBox="1"/>
          <p:nvPr/>
        </p:nvSpPr>
        <p:spPr>
          <a:xfrm>
            <a:off x="640080" y="1280160"/>
            <a:ext cx="5029200" cy="548640"/>
          </a:xfrm>
          <a:prstGeom prst="rect">
            <a:avLst/>
          </a:prstGeom>
          <a:noFill/>
        </p:spPr>
        <p:txBody>
          <a:bodyPr wrap="square">
            <a:spAutoFit/>
          </a:bodyPr>
          <a:lstStyle/>
          <a:p>
            <a:pPr algn="l">
              <a:defRPr sz="2200" b="1" i="0">
                <a:solidFill>
                  <a:srgbClr val="0095A8"/>
                </a:solidFill>
                <a:latin typeface="Arial"/>
              </a:defRPr>
            </a:pPr>
            <a:r>
              <a:t>Demographics &amp; HIV/AIDS</a:t>
            </a:r>
          </a:p>
        </p:txBody>
      </p:sp>
      <p:sp>
        <p:nvSpPr>
          <p:cNvPr id="4" name="TextBox 3"/>
          <p:cNvSpPr txBox="1"/>
          <p:nvPr/>
        </p:nvSpPr>
        <p:spPr>
          <a:xfrm>
            <a:off x="640080" y="1828800"/>
            <a:ext cx="5029200" cy="4572000"/>
          </a:xfrm>
          <a:prstGeom prst="rect">
            <a:avLst/>
          </a:prstGeom>
          <a:noFill/>
        </p:spPr>
        <p:txBody>
          <a:bodyPr wrap="square">
            <a:spAutoFit/>
          </a:bodyPr>
          <a:lstStyle/>
          <a:p>
            <a:pPr>
              <a:spcAft>
                <a:spcPts val="600"/>
              </a:spcAft>
              <a:defRPr sz="1800" b="0">
                <a:solidFill>
                  <a:srgbClr val="FFFFFF"/>
                </a:solidFill>
                <a:latin typeface="Arial"/>
              </a:defRPr>
            </a:pPr>
            <a:r>
              <a:t>52-year-old man, street homeless in SF ~6 months</a:t>
            </a:r>
          </a:p>
          <a:p>
            <a:pPr>
              <a:spcAft>
                <a:spcPts val="600"/>
              </a:spcAft>
              <a:defRPr sz="1800" b="0">
                <a:solidFill>
                  <a:srgbClr val="FFFFFF"/>
                </a:solidFill>
                <a:latin typeface="Arial"/>
              </a:defRPr>
            </a:pPr>
            <a:r>
              <a:t>Not on ART for 5+ years despite prior Triumeq</a:t>
            </a:r>
          </a:p>
          <a:p>
            <a:pPr>
              <a:spcAft>
                <a:spcPts val="600"/>
              </a:spcAft>
              <a:defRPr sz="1800" b="0">
                <a:solidFill>
                  <a:srgbClr val="FFFFFF"/>
                </a:solidFill>
                <a:latin typeface="Arial"/>
              </a:defRPr>
            </a:pPr>
            <a:r>
              <a:t>"To tell the truth, I threw the medicine away"</a:t>
            </a:r>
          </a:p>
          <a:p>
            <a:pPr>
              <a:spcAft>
                <a:spcPts val="600"/>
              </a:spcAft>
              <a:defRPr sz="1800" b="0">
                <a:solidFill>
                  <a:srgbClr val="FFFFFF"/>
                </a:solidFill>
                <a:latin typeface="Arial"/>
              </a:defRPr>
            </a:pPr>
            <a:r>
              <a:t>Recently expressing interest in LA-ART</a:t>
            </a:r>
          </a:p>
          <a:p>
            <a:pPr>
              <a:spcAft>
                <a:spcPts val="600"/>
              </a:spcAft>
              <a:defRPr sz="1800" b="0">
                <a:solidFill>
                  <a:srgbClr val="FFFFFF"/>
                </a:solidFill>
                <a:latin typeface="Arial"/>
              </a:defRPr>
            </a:pPr>
            <a:r>
              <a:t>M184V on recent genotype</a:t>
            </a:r>
          </a:p>
          <a:p>
            <a:pPr>
              <a:spcAft>
                <a:spcPts val="600"/>
              </a:spcAft>
              <a:defRPr sz="1800" b="0">
                <a:solidFill>
                  <a:srgbClr val="FFFFFF"/>
                </a:solidFill>
                <a:latin typeface="Arial"/>
              </a:defRPr>
            </a:pPr>
            <a:r>
              <a:t>Schizophrenia (not on meds), stimulant use, AUD + withdrawal seizures</a:t>
            </a:r>
          </a:p>
          <a:p>
            <a:pPr>
              <a:spcAft>
                <a:spcPts val="600"/>
              </a:spcAft>
              <a:defRPr sz="1800" b="0">
                <a:solidFill>
                  <a:srgbClr val="FFFFFF"/>
                </a:solidFill>
                <a:latin typeface="Arial"/>
              </a:defRPr>
            </a:pPr>
            <a:r>
              <a:t>Recent PE (2024, not on anticoagulation)</a:t>
            </a:r>
          </a:p>
        </p:txBody>
      </p:sp>
      <p:sp>
        <p:nvSpPr>
          <p:cNvPr id="5" name="TextBox 4"/>
          <p:cNvSpPr txBox="1"/>
          <p:nvPr/>
        </p:nvSpPr>
        <p:spPr>
          <a:xfrm>
            <a:off x="6217920" y="1280160"/>
            <a:ext cx="5303520" cy="548640"/>
          </a:xfrm>
          <a:prstGeom prst="rect">
            <a:avLst/>
          </a:prstGeom>
          <a:noFill/>
        </p:spPr>
        <p:txBody>
          <a:bodyPr wrap="square">
            <a:spAutoFit/>
          </a:bodyPr>
          <a:lstStyle/>
          <a:p>
            <a:pPr algn="l">
              <a:defRPr sz="2200" b="1" i="0">
                <a:solidFill>
                  <a:srgbClr val="0095A8"/>
                </a:solidFill>
                <a:latin typeface="Arial"/>
              </a:defRPr>
            </a:pPr>
            <a:r>
              <a:t>Prior OIs &amp; Pericardial History</a:t>
            </a:r>
          </a:p>
        </p:txBody>
      </p:sp>
      <p:sp>
        <p:nvSpPr>
          <p:cNvPr id="6" name="TextBox 5"/>
          <p:cNvSpPr txBox="1"/>
          <p:nvPr/>
        </p:nvSpPr>
        <p:spPr>
          <a:xfrm>
            <a:off x="6217920" y="1828800"/>
            <a:ext cx="5303520" cy="4572000"/>
          </a:xfrm>
          <a:prstGeom prst="rect">
            <a:avLst/>
          </a:prstGeom>
          <a:noFill/>
        </p:spPr>
        <p:txBody>
          <a:bodyPr wrap="square">
            <a:spAutoFit/>
          </a:bodyPr>
          <a:lstStyle/>
          <a:p>
            <a:pPr>
              <a:spcAft>
                <a:spcPts val="600"/>
              </a:spcAft>
              <a:defRPr sz="1800" b="0">
                <a:solidFill>
                  <a:srgbClr val="FFFFFF"/>
                </a:solidFill>
                <a:latin typeface="Arial"/>
              </a:defRPr>
            </a:pPr>
            <a:r>
              <a:t>PCP pneumonia (Dec 2025)</a:t>
            </a:r>
          </a:p>
          <a:p>
            <a:pPr>
              <a:spcAft>
                <a:spcPts val="600"/>
              </a:spcAft>
              <a:defRPr sz="1800" b="0">
                <a:solidFill>
                  <a:srgbClr val="FFFFFF"/>
                </a:solidFill>
                <a:latin typeface="Arial"/>
              </a:defRPr>
            </a:pPr>
            <a:r>
              <a:t>Strep pneumo bacteremia + H. flu empyema (Mar 2025)</a:t>
            </a:r>
          </a:p>
          <a:p>
            <a:pPr>
              <a:spcAft>
                <a:spcPts val="600"/>
              </a:spcAft>
              <a:defRPr sz="1800" b="0">
                <a:solidFill>
                  <a:srgbClr val="FFFFFF"/>
                </a:solidFill>
                <a:latin typeface="Arial"/>
              </a:defRPr>
            </a:pPr>
            <a:r>
              <a:t>  -- Septic shock, bilateral chest tubes</a:t>
            </a:r>
          </a:p>
          <a:p>
            <a:pPr>
              <a:spcAft>
                <a:spcPts val="600"/>
              </a:spcAft>
              <a:defRPr sz="1800" b="0">
                <a:solidFill>
                  <a:srgbClr val="FFFFFF"/>
                </a:solidFill>
                <a:latin typeface="Arial"/>
              </a:defRPr>
            </a:pPr>
            <a:r>
              <a:t>Esophageal/mucocutaneous candidiasis</a:t>
            </a:r>
          </a:p>
          <a:p>
            <a:pPr>
              <a:spcAft>
                <a:spcPts val="600"/>
              </a:spcAft>
              <a:defRPr sz="1800" b="0">
                <a:solidFill>
                  <a:srgbClr val="FFFFFF"/>
                </a:solidFill>
                <a:latin typeface="Arial"/>
              </a:defRPr>
            </a:pPr>
            <a:r>
              <a:t>Mar 2025: Strep -&gt; pericardial effusion -&gt; tamponade -&gt; PEA arrest</a:t>
            </a:r>
          </a:p>
          <a:p>
            <a:pPr>
              <a:spcAft>
                <a:spcPts val="600"/>
              </a:spcAft>
              <a:defRPr sz="1800" b="0">
                <a:solidFill>
                  <a:srgbClr val="FFFFFF"/>
                </a:solidFill>
                <a:latin typeface="Arial"/>
              </a:defRPr>
            </a:pPr>
            <a:r>
              <a:t>  -- Emergent drain; culture neg, 2700 WBC, PMN predominant</a:t>
            </a:r>
          </a:p>
          <a:p>
            <a:pPr>
              <a:spcAft>
                <a:spcPts val="600"/>
              </a:spcAft>
              <a:defRPr sz="1800" b="0">
                <a:solidFill>
                  <a:srgbClr val="FFFFFF"/>
                </a:solidFill>
                <a:latin typeface="Arial"/>
              </a:defRPr>
            </a:pPr>
            <a:r>
              <a:t>  -- Etiology: presumed infectious, never established</a:t>
            </a:r>
          </a:p>
          <a:p>
            <a:pPr>
              <a:spcAft>
                <a:spcPts val="600"/>
              </a:spcAft>
              <a:defRPr sz="1800" b="0">
                <a:solidFill>
                  <a:srgbClr val="FFFFFF"/>
                </a:solidFill>
                <a:latin typeface="Arial"/>
              </a:defRPr>
            </a:pPr>
            <a:r>
              <a:t>  -- CT surgery: too high risk (AIDS, adherence)</a:t>
            </a:r>
          </a:p>
          <a:p>
            <a:pPr>
              <a:spcAft>
                <a:spcPts val="600"/>
              </a:spcAft>
              <a:defRPr sz="1800" b="0">
                <a:solidFill>
                  <a:srgbClr val="FFFFFF"/>
                </a:solidFill>
                <a:latin typeface="Arial"/>
              </a:defRPr>
            </a:pPr>
            <a:r>
              <a:t>Recent CT chest: NO current pericardial effusion</a:t>
            </a:r>
          </a:p>
        </p:txBody>
      </p:sp>
      <p:sp>
        <p:nvSpPr>
          <p:cNvPr id="7" name="TextBox 6"/>
          <p:cNvSpPr txBox="1"/>
          <p:nvPr/>
        </p:nvSpPr>
        <p:spPr>
          <a:xfrm>
            <a:off x="731520" y="5486400"/>
            <a:ext cx="2743200" cy="914400"/>
          </a:xfrm>
          <a:prstGeom prst="rect">
            <a:avLst/>
          </a:prstGeom>
          <a:noFill/>
        </p:spPr>
        <p:txBody>
          <a:bodyPr wrap="square">
            <a:spAutoFit/>
          </a:bodyPr>
          <a:lstStyle/>
          <a:p>
            <a:pPr algn="ctr">
              <a:defRPr sz="3600" b="1">
                <a:solidFill>
                  <a:srgbClr val="FF6060"/>
                </a:solidFill>
                <a:latin typeface="Garamond"/>
              </a:defRPr>
            </a:pPr>
            <a:r>
              <a:t>CD4 &lt;35</a:t>
            </a:r>
          </a:p>
          <a:p>
            <a:pPr algn="ctr">
              <a:defRPr sz="1600" b="0">
                <a:solidFill>
                  <a:srgbClr val="FFFFFF"/>
                </a:solidFill>
                <a:latin typeface="Arial"/>
              </a:defRPr>
            </a:pPr>
            <a:r>
              <a:t>(2%)</a:t>
            </a:r>
          </a:p>
        </p:txBody>
      </p:sp>
      <p:sp>
        <p:nvSpPr>
          <p:cNvPr id="8" name="TextBox 7"/>
          <p:cNvSpPr txBox="1"/>
          <p:nvPr/>
        </p:nvSpPr>
        <p:spPr>
          <a:xfrm>
            <a:off x="3657600" y="5486400"/>
            <a:ext cx="3200400" cy="914400"/>
          </a:xfrm>
          <a:prstGeom prst="rect">
            <a:avLst/>
          </a:prstGeom>
          <a:noFill/>
        </p:spPr>
        <p:txBody>
          <a:bodyPr wrap="square">
            <a:spAutoFit/>
          </a:bodyPr>
          <a:lstStyle/>
          <a:p>
            <a:pPr algn="ctr">
              <a:defRPr sz="3600" b="1">
                <a:solidFill>
                  <a:srgbClr val="FF6060"/>
                </a:solidFill>
                <a:latin typeface="Garamond"/>
              </a:defRPr>
            </a:pPr>
            <a:r>
              <a:t>VL 255,000</a:t>
            </a:r>
          </a:p>
          <a:p>
            <a:pPr algn="ctr">
              <a:defRPr sz="1600" b="0">
                <a:solidFill>
                  <a:srgbClr val="FFFFFF"/>
                </a:solidFill>
                <a:latin typeface="Arial"/>
              </a:defRPr>
            </a:pPr>
            <a:r>
              <a:t>c/mL</a:t>
            </a:r>
          </a:p>
        </p:txBody>
      </p:sp>
      <p:sp>
        <p:nvSpPr>
          <p:cNvPr id="9" name="Rounded Rectangle 8"/>
          <p:cNvSpPr/>
          <p:nvPr/>
        </p:nvSpPr>
        <p:spPr>
          <a:xfrm>
            <a:off x="7132320" y="5486400"/>
            <a:ext cx="4754880" cy="91440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33333"/>
                </a:solidFill>
                <a:latin typeface="Arial"/>
              </a:defRPr>
            </a:pPr>
            <a:r>
              <a:t>IRIS risk if starting ART at CD4 &lt;35 with incompletely treated infectious pericarditis?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95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spAutoFit/>
          </a:bodyPr>
          <a:lstStyle/>
          <a:p>
            <a:pPr algn="l">
              <a:defRPr sz="2800" b="1" i="0">
                <a:solidFill>
                  <a:srgbClr val="FFFFFF"/>
                </a:solidFill>
                <a:latin typeface="Arial"/>
              </a:defRPr>
            </a:pPr>
            <a:r>
              <a:t>Poll Everywhere</a:t>
            </a:r>
          </a:p>
        </p:txBody>
      </p:sp>
      <p:sp>
        <p:nvSpPr>
          <p:cNvPr id="4" name="TextBox 3"/>
          <p:cNvSpPr txBox="1"/>
          <p:nvPr/>
        </p:nvSpPr>
        <p:spPr>
          <a:xfrm>
            <a:off x="731520" y="1463040"/>
            <a:ext cx="10515600" cy="1097280"/>
          </a:xfrm>
          <a:prstGeom prst="rect">
            <a:avLst/>
          </a:prstGeom>
          <a:noFill/>
        </p:spPr>
        <p:txBody>
          <a:bodyPr wrap="square">
            <a:spAutoFit/>
          </a:bodyPr>
          <a:lstStyle/>
          <a:p>
            <a:pPr algn="l">
              <a:defRPr sz="2800" b="1" i="0">
                <a:solidFill>
                  <a:srgbClr val="1B2A4A"/>
                </a:solidFill>
                <a:latin typeface="Garamond"/>
              </a:defRPr>
            </a:pPr>
            <a:r>
              <a:t>You are consulted on starting ART. What do you do?</a:t>
            </a:r>
          </a:p>
        </p:txBody>
      </p:sp>
      <p:sp>
        <p:nvSpPr>
          <p:cNvPr id="5" name="TextBox 4"/>
          <p:cNvSpPr txBox="1"/>
          <p:nvPr/>
        </p:nvSpPr>
        <p:spPr>
          <a:xfrm>
            <a:off x="1097280" y="2743200"/>
            <a:ext cx="9601200" cy="502920"/>
          </a:xfrm>
          <a:prstGeom prst="rect">
            <a:avLst/>
          </a:prstGeom>
          <a:noFill/>
        </p:spPr>
        <p:txBody>
          <a:bodyPr wrap="square">
            <a:spAutoFit/>
          </a:bodyPr>
          <a:lstStyle/>
          <a:p>
            <a:pPr algn="l">
              <a:defRPr sz="2000" b="0" i="0">
                <a:solidFill>
                  <a:srgbClr val="333333"/>
                </a:solidFill>
                <a:latin typeface="Arial"/>
              </a:defRPr>
            </a:pPr>
            <a:r>
              <a:t>A: Start Cabenuva (CAB/RPV) now</a:t>
            </a:r>
          </a:p>
        </p:txBody>
      </p:sp>
      <p:sp>
        <p:nvSpPr>
          <p:cNvPr id="6" name="TextBox 5"/>
          <p:cNvSpPr txBox="1"/>
          <p:nvPr/>
        </p:nvSpPr>
        <p:spPr>
          <a:xfrm>
            <a:off x="1097280" y="3383280"/>
            <a:ext cx="9601200" cy="502920"/>
          </a:xfrm>
          <a:prstGeom prst="rect">
            <a:avLst/>
          </a:prstGeom>
          <a:noFill/>
        </p:spPr>
        <p:txBody>
          <a:bodyPr wrap="square">
            <a:spAutoFit/>
          </a:bodyPr>
          <a:lstStyle/>
          <a:p>
            <a:pPr algn="l">
              <a:defRPr sz="2000" b="0" i="0">
                <a:solidFill>
                  <a:srgbClr val="333333"/>
                </a:solidFill>
                <a:latin typeface="Arial"/>
              </a:defRPr>
            </a:pPr>
            <a:r>
              <a:t>B: Start Cabenuva + Lenacapavir now</a:t>
            </a:r>
          </a:p>
        </p:txBody>
      </p:sp>
      <p:sp>
        <p:nvSpPr>
          <p:cNvPr id="7" name="TextBox 6"/>
          <p:cNvSpPr txBox="1"/>
          <p:nvPr/>
        </p:nvSpPr>
        <p:spPr>
          <a:xfrm>
            <a:off x="1097280" y="4023360"/>
            <a:ext cx="9601200" cy="502920"/>
          </a:xfrm>
          <a:prstGeom prst="rect">
            <a:avLst/>
          </a:prstGeom>
          <a:noFill/>
        </p:spPr>
        <p:txBody>
          <a:bodyPr wrap="square">
            <a:spAutoFit/>
          </a:bodyPr>
          <a:lstStyle/>
          <a:p>
            <a:pPr algn="l">
              <a:defRPr sz="2000" b="0" i="0">
                <a:solidFill>
                  <a:srgbClr val="333333"/>
                </a:solidFill>
                <a:latin typeface="Arial"/>
              </a:defRPr>
            </a:pPr>
            <a:r>
              <a:t>C: Start DRV/c/TAF/FTC (oral) now</a:t>
            </a:r>
          </a:p>
        </p:txBody>
      </p:sp>
      <p:sp>
        <p:nvSpPr>
          <p:cNvPr id="8" name="TextBox 7"/>
          <p:cNvSpPr txBox="1"/>
          <p:nvPr/>
        </p:nvSpPr>
        <p:spPr>
          <a:xfrm>
            <a:off x="1097280" y="4663440"/>
            <a:ext cx="9601200" cy="502920"/>
          </a:xfrm>
          <a:prstGeom prst="rect">
            <a:avLst/>
          </a:prstGeom>
          <a:noFill/>
        </p:spPr>
        <p:txBody>
          <a:bodyPr wrap="square">
            <a:spAutoFit/>
          </a:bodyPr>
          <a:lstStyle/>
          <a:p>
            <a:pPr algn="l">
              <a:defRPr sz="2000" b="0" i="0">
                <a:solidFill>
                  <a:srgbClr val="333333"/>
                </a:solidFill>
                <a:latin typeface="Arial"/>
              </a:defRPr>
            </a:pPr>
            <a:r>
              <a:t>D: Start BIC/TAF/FTC (oral) now</a:t>
            </a:r>
          </a:p>
        </p:txBody>
      </p:sp>
      <p:sp>
        <p:nvSpPr>
          <p:cNvPr id="9" name="TextBox 8"/>
          <p:cNvSpPr txBox="1"/>
          <p:nvPr/>
        </p:nvSpPr>
        <p:spPr>
          <a:xfrm>
            <a:off x="1097280" y="5303520"/>
            <a:ext cx="9601200" cy="502920"/>
          </a:xfrm>
          <a:prstGeom prst="rect">
            <a:avLst/>
          </a:prstGeom>
          <a:noFill/>
        </p:spPr>
        <p:txBody>
          <a:bodyPr wrap="square">
            <a:spAutoFit/>
          </a:bodyPr>
          <a:lstStyle/>
          <a:p>
            <a:pPr algn="l">
              <a:defRPr sz="2000" b="0" i="0">
                <a:solidFill>
                  <a:srgbClr val="333333"/>
                </a:solidFill>
                <a:latin typeface="Arial"/>
              </a:defRPr>
            </a:pPr>
            <a:r>
              <a:t>E: Wait -- pursue LA-antipsychotic first, then reassess ART</a:t>
            </a:r>
          </a:p>
        </p:txBody>
      </p:sp>
      <p:sp>
        <p:nvSpPr>
          <p:cNvPr id="10" name="TextBox 9"/>
          <p:cNvSpPr txBox="1"/>
          <p:nvPr/>
        </p:nvSpPr>
        <p:spPr>
          <a:xfrm>
            <a:off x="731520" y="5669280"/>
            <a:ext cx="10515600" cy="548640"/>
          </a:xfrm>
          <a:prstGeom prst="rect">
            <a:avLst/>
          </a:prstGeom>
          <a:noFill/>
        </p:spPr>
        <p:txBody>
          <a:bodyPr wrap="square">
            <a:spAutoFit/>
          </a:bodyPr>
          <a:lstStyle/>
          <a:p>
            <a:pPr algn="l">
              <a:defRPr sz="1200" b="0" i="1">
                <a:solidFill>
                  <a:srgbClr val="333333"/>
                </a:solidFill>
                <a:latin typeface="Arial"/>
              </a:defRPr>
            </a:pPr>
            <a:r>
              <a:t>IRIS context: CrAg neg (reassuring) | Pericardial IRIS documented but rare | ART-era pericardial effusion: 11% to 0.25% | CMV viremia: additional theoretical trigger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lgn="l">
              <a:defRPr sz="3200" b="1" i="0">
                <a:solidFill>
                  <a:srgbClr val="1B2A4A"/>
                </a:solidFill>
                <a:latin typeface="Garamond"/>
              </a:defRPr>
            </a:pPr>
            <a:r>
              <a:t>Key Takeaways</a:t>
            </a:r>
          </a:p>
        </p:txBody>
      </p:sp>
      <p:sp>
        <p:nvSpPr>
          <p:cNvPr id="3" name="TextBox 2"/>
          <p:cNvSpPr txBox="1"/>
          <p:nvPr/>
        </p:nvSpPr>
        <p:spPr>
          <a:xfrm>
            <a:off x="731520" y="1463040"/>
            <a:ext cx="10515600" cy="822960"/>
          </a:xfrm>
          <a:prstGeom prst="rect">
            <a:avLst/>
          </a:prstGeom>
          <a:noFill/>
        </p:spPr>
        <p:txBody>
          <a:bodyPr wrap="square">
            <a:spAutoFit/>
          </a:bodyPr>
          <a:lstStyle/>
          <a:p>
            <a:r>
              <a:rPr sz="1800">
                <a:solidFill>
                  <a:srgbClr val="1B2A4A"/>
                </a:solidFill>
                <a:latin typeface="Arial"/>
              </a:rPr>
              <a:t>1. LA-ART works in this population -- </a:t>
            </a:r>
            <a:r>
              <a:rPr sz="1800" b="1">
                <a:solidFill>
                  <a:srgbClr val="0095A8"/>
                </a:solidFill>
                <a:latin typeface="Arial"/>
              </a:rPr>
              <a:t>100% suppression</a:t>
            </a:r>
            <a:r>
              <a:rPr sz="1800">
                <a:solidFill>
                  <a:srgbClr val="1B2A4A"/>
                </a:solidFill>
                <a:latin typeface="Arial"/>
              </a:rPr>
              <a:t> -- but requires intensive infrastructure. Not set-it-and-forget-it.</a:t>
            </a:r>
          </a:p>
        </p:txBody>
      </p:sp>
      <p:sp>
        <p:nvSpPr>
          <p:cNvPr id="4" name="TextBox 3"/>
          <p:cNvSpPr txBox="1"/>
          <p:nvPr/>
        </p:nvSpPr>
        <p:spPr>
          <a:xfrm>
            <a:off x="731520" y="2377440"/>
            <a:ext cx="10515600" cy="822960"/>
          </a:xfrm>
          <a:prstGeom prst="rect">
            <a:avLst/>
          </a:prstGeom>
          <a:noFill/>
        </p:spPr>
        <p:txBody>
          <a:bodyPr wrap="square">
            <a:spAutoFit/>
          </a:bodyPr>
          <a:lstStyle/>
          <a:p>
            <a:r>
              <a:rPr sz="1800">
                <a:solidFill>
                  <a:srgbClr val="1B2A4A"/>
                </a:solidFill>
                <a:latin typeface="Arial"/>
              </a:rPr>
              <a:t>2. For patients at high LTFU risk, </a:t>
            </a:r>
            <a:r>
              <a:rPr sz="1800" b="1">
                <a:solidFill>
                  <a:srgbClr val="0095A8"/>
                </a:solidFill>
                <a:latin typeface="Arial"/>
              </a:rPr>
              <a:t>LEN + CAB/RPV may offer population-level harm reduction</a:t>
            </a:r>
            <a:r>
              <a:rPr sz="1800">
                <a:solidFill>
                  <a:srgbClr val="1B2A4A"/>
                </a:solidFill>
                <a:latin typeface="Arial"/>
              </a:rPr>
              <a:t> -- protecting the INSTI class even when CAB levels drop.</a:t>
            </a:r>
          </a:p>
        </p:txBody>
      </p:sp>
      <p:sp>
        <p:nvSpPr>
          <p:cNvPr id="5" name="TextBox 4"/>
          <p:cNvSpPr txBox="1"/>
          <p:nvPr/>
        </p:nvSpPr>
        <p:spPr>
          <a:xfrm>
            <a:off x="731520" y="3291840"/>
            <a:ext cx="10515600" cy="822960"/>
          </a:xfrm>
          <a:prstGeom prst="rect">
            <a:avLst/>
          </a:prstGeom>
          <a:noFill/>
        </p:spPr>
        <p:txBody>
          <a:bodyPr wrap="square">
            <a:spAutoFit/>
          </a:bodyPr>
          <a:lstStyle/>
          <a:p>
            <a:r>
              <a:rPr sz="1800">
                <a:solidFill>
                  <a:srgbClr val="1B2A4A"/>
                </a:solidFill>
                <a:latin typeface="Arial"/>
              </a:rPr>
              <a:t>3. In low-barrier settings: </a:t>
            </a:r>
            <a:r>
              <a:rPr sz="1800" b="1">
                <a:solidFill>
                  <a:srgbClr val="0095A8"/>
                </a:solidFill>
                <a:latin typeface="Arial"/>
              </a:rPr>
              <a:t>act when the patient is in front of you.</a:t>
            </a:r>
            <a:r>
              <a:rPr sz="1800">
                <a:solidFill>
                  <a:srgbClr val="1B2A4A"/>
                </a:solidFill>
                <a:latin typeface="Arial"/>
              </a:rPr>
              <a:t> Waiting for perfect lab data can mean waiting forever.</a:t>
            </a:r>
          </a:p>
        </p:txBody>
      </p:sp>
      <p:sp>
        <p:nvSpPr>
          <p:cNvPr id="6" name="TextBox 5"/>
          <p:cNvSpPr txBox="1"/>
          <p:nvPr/>
        </p:nvSpPr>
        <p:spPr>
          <a:xfrm>
            <a:off x="731520" y="4206240"/>
            <a:ext cx="10515600" cy="822960"/>
          </a:xfrm>
          <a:prstGeom prst="rect">
            <a:avLst/>
          </a:prstGeom>
          <a:noFill/>
        </p:spPr>
        <p:txBody>
          <a:bodyPr wrap="square">
            <a:spAutoFit/>
          </a:bodyPr>
          <a:lstStyle/>
          <a:p>
            <a:r>
              <a:rPr sz="1800">
                <a:solidFill>
                  <a:srgbClr val="1B2A4A"/>
                </a:solidFill>
                <a:latin typeface="Arial"/>
              </a:rPr>
              <a:t>4. Starting ART in patients with AIDS and incompletely treated infectious pericarditis raises </a:t>
            </a:r>
            <a:r>
              <a:rPr sz="1800" b="1">
                <a:solidFill>
                  <a:srgbClr val="0095A8"/>
                </a:solidFill>
                <a:latin typeface="Arial"/>
              </a:rPr>
              <a:t>novel IRIS concerns</a:t>
            </a:r>
            <a:r>
              <a:rPr sz="1800">
                <a:solidFill>
                  <a:srgbClr val="1B2A4A"/>
                </a:solidFill>
                <a:latin typeface="Arial"/>
              </a:rPr>
              <a:t> the field has not yet addressed.</a:t>
            </a:r>
          </a:p>
        </p:txBody>
      </p:sp>
      <p:sp>
        <p:nvSpPr>
          <p:cNvPr id="7" name="TextBox 6"/>
          <p:cNvSpPr txBox="1"/>
          <p:nvPr/>
        </p:nvSpPr>
        <p:spPr>
          <a:xfrm>
            <a:off x="731520" y="5120640"/>
            <a:ext cx="10515600" cy="822960"/>
          </a:xfrm>
          <a:prstGeom prst="rect">
            <a:avLst/>
          </a:prstGeom>
          <a:noFill/>
        </p:spPr>
        <p:txBody>
          <a:bodyPr wrap="square">
            <a:spAutoFit/>
          </a:bodyPr>
          <a:lstStyle/>
          <a:p>
            <a:r>
              <a:rPr sz="1800">
                <a:solidFill>
                  <a:srgbClr val="1B2A4A"/>
                </a:solidFill>
                <a:latin typeface="Arial"/>
              </a:rPr>
              <a:t>5. </a:t>
            </a:r>
            <a:r>
              <a:rPr sz="1800" b="1">
                <a:solidFill>
                  <a:srgbClr val="0095A8"/>
                </a:solidFill>
                <a:latin typeface="Arial"/>
              </a:rPr>
              <a:t>Humility.</a:t>
            </a:r>
            <a:r>
              <a:rPr sz="1800">
                <a:solidFill>
                  <a:srgbClr val="1B2A4A"/>
                </a:solidFill>
                <a:latin typeface="Arial"/>
              </a:rPr>
              <a:t> We are working in genuinely new territory. These cases don't have clean endings -- and that's the point.</a:t>
            </a:r>
          </a:p>
        </p:txBody>
      </p:sp>
      <p:sp>
        <p:nvSpPr>
          <p:cNvPr id="8" name="TextBox 7"/>
          <p:cNvSpPr txBox="1"/>
          <p:nvPr/>
        </p:nvSpPr>
        <p:spPr>
          <a:xfrm>
            <a:off x="731520" y="5760720"/>
            <a:ext cx="7315200" cy="914400"/>
          </a:xfrm>
          <a:prstGeom prst="rect">
            <a:avLst/>
          </a:prstGeom>
          <a:noFill/>
        </p:spPr>
        <p:txBody>
          <a:bodyPr wrap="square">
            <a:spAutoFit/>
          </a:bodyPr>
          <a:lstStyle/>
          <a:p>
            <a:pPr>
              <a:spcAft>
                <a:spcPts val="200"/>
              </a:spcAft>
              <a:defRPr sz="1100" b="0">
                <a:solidFill>
                  <a:srgbClr val="333333"/>
                </a:solidFill>
                <a:latin typeface="Arial"/>
              </a:defRPr>
            </a:pPr>
            <a:r>
              <a:t>1. Mehtani NJ et al. Open Forum Infect Dis. 2025;12(6):ofaf330. PMC12188974.</a:t>
            </a:r>
          </a:p>
          <a:p>
            <a:pPr>
              <a:spcAft>
                <a:spcPts val="200"/>
              </a:spcAft>
              <a:defRPr sz="1100" b="0">
                <a:solidFill>
                  <a:srgbClr val="333333"/>
                </a:solidFill>
                <a:latin typeface="Arial"/>
              </a:defRPr>
            </a:pPr>
            <a:r>
              <a:t>2. Mehtani NJ et al. J Acquir Immune Defic Syndr. 2024;96:61-7. PMC11009050.</a:t>
            </a:r>
          </a:p>
          <a:p>
            <a:pPr>
              <a:spcAft>
                <a:spcPts val="200"/>
              </a:spcAft>
              <a:defRPr sz="1100" b="0">
                <a:solidFill>
                  <a:srgbClr val="333333"/>
                </a:solidFill>
                <a:latin typeface="Arial"/>
              </a:defRPr>
            </a:pPr>
            <a:r>
              <a:t>3. Mehtani NJ et al. LA-PrEP abstract, submitted 2026.</a:t>
            </a:r>
          </a:p>
          <a:p>
            <a:pPr>
              <a:spcAft>
                <a:spcPts val="200"/>
              </a:spcAft>
              <a:defRPr sz="1100" b="0">
                <a:solidFill>
                  <a:srgbClr val="333333"/>
                </a:solidFill>
                <a:latin typeface="Arial"/>
              </a:defRPr>
            </a:pPr>
            <a:r>
              <a:t>4. Mehtani NJ et al. Oral vs. LA-ART manuscript, in preparation.</a:t>
            </a:r>
          </a:p>
        </p:txBody>
      </p:sp>
      <p:sp>
        <p:nvSpPr>
          <p:cNvPr id="9" name="TextBox 8"/>
          <p:cNvSpPr txBox="1"/>
          <p:nvPr/>
        </p:nvSpPr>
        <p:spPr>
          <a:xfrm>
            <a:off x="8229600" y="5760720"/>
            <a:ext cx="3657600" cy="731520"/>
          </a:xfrm>
          <a:prstGeom prst="rect">
            <a:avLst/>
          </a:prstGeom>
          <a:noFill/>
        </p:spPr>
        <p:txBody>
          <a:bodyPr wrap="square">
            <a:spAutoFit/>
          </a:bodyPr>
          <a:lstStyle/>
          <a:p>
            <a:pPr algn="r">
              <a:defRPr sz="2800" b="1" i="0">
                <a:solidFill>
                  <a:srgbClr val="0095A8"/>
                </a:solidFill>
                <a:latin typeface="Garamond"/>
              </a:defRPr>
            </a:pPr>
            <a:r>
              <a:t>Thank you.</a:t>
            </a:r>
            <a:b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